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59" r:id="rId16"/>
    <p:sldId id="275" r:id="rId17"/>
    <p:sldId id="257" r:id="rId18"/>
    <p:sldId id="25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219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419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937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424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2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7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31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605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143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3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601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2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7892" y="1207293"/>
            <a:ext cx="3781652" cy="587134"/>
          </a:xfrm>
        </p:spPr>
        <p:txBody>
          <a:bodyPr/>
          <a:lstStyle/>
          <a:p>
            <a:r>
              <a:rPr dirty="0"/>
              <a:t>ERP SCALE OCEAN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30-60-90 Day Critical Gap Improvement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C287-A073-464B-9461-7DFF2D9B1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 1 – </a:t>
            </a:r>
            <a:r>
              <a:rPr lang="en-US" dirty="0" err="1"/>
              <a:t>Tidak</a:t>
            </a:r>
            <a:r>
              <a:rPr lang="en-US" dirty="0"/>
              <a:t> Ada End-to-End Visibility Order </a:t>
            </a:r>
            <a:r>
              <a:rPr lang="en-US" dirty="0" err="1"/>
              <a:t>ke</a:t>
            </a:r>
            <a:r>
              <a:rPr lang="en-US" dirty="0"/>
              <a:t> Delivery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135C-A3AC-4AE7-B272-B884CF4E9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0" y="1906067"/>
            <a:ext cx="6571343" cy="88539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Modul </a:t>
            </a:r>
            <a:r>
              <a:rPr lang="en-US" b="1" dirty="0" err="1"/>
              <a:t>Terdampak</a:t>
            </a:r>
            <a:r>
              <a:rPr lang="en-US" b="1" dirty="0"/>
              <a:t> 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Sales, </a:t>
            </a:r>
            <a:r>
              <a:rPr lang="en-US" dirty="0" err="1"/>
              <a:t>Operation,Delivery</a:t>
            </a:r>
            <a:r>
              <a:rPr lang="en-US" dirty="0"/>
              <a:t>, Finance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47FD1C-5F7A-41C0-B510-FB9BBC6544E3}"/>
              </a:ext>
            </a:extLst>
          </p:cNvPr>
          <p:cNvSpPr txBox="1"/>
          <p:nvPr/>
        </p:nvSpPr>
        <p:spPr>
          <a:xfrm>
            <a:off x="151719" y="2918910"/>
            <a:ext cx="48339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lphaLcParenR"/>
            </a:pPr>
            <a:r>
              <a:rPr lang="en-US" b="1" dirty="0"/>
              <a:t>Root Cause Analysis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Sales Order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terhubung</a:t>
            </a:r>
            <a:r>
              <a:rPr lang="en-US" dirty="0"/>
              <a:t> real-time </a:t>
            </a:r>
            <a:r>
              <a:rPr lang="en-US" dirty="0" err="1"/>
              <a:t>dengan</a:t>
            </a:r>
            <a:r>
              <a:rPr lang="en-US" dirty="0"/>
              <a:t> Job Order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dashboard monitoring live delivery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Status update delivery </a:t>
            </a:r>
            <a:r>
              <a:rPr lang="en-US" dirty="0" err="1"/>
              <a:t>masih</a:t>
            </a:r>
            <a:r>
              <a:rPr lang="en-US" dirty="0"/>
              <a:t> manual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SLA tracking </a:t>
            </a:r>
            <a:r>
              <a:rPr lang="en-US" dirty="0" err="1"/>
              <a:t>otomatis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alert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delay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2C1E2-950E-46E1-967E-A5025C52B306}"/>
              </a:ext>
            </a:extLst>
          </p:cNvPr>
          <p:cNvSpPr txBox="1"/>
          <p:nvPr/>
        </p:nvSpPr>
        <p:spPr>
          <a:xfrm>
            <a:off x="4729162" y="2901132"/>
            <a:ext cx="45774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Akar</a:t>
            </a:r>
            <a:r>
              <a:rPr lang="en-US" b="1" dirty="0"/>
              <a:t> </a:t>
            </a:r>
            <a:r>
              <a:rPr lang="en-US" b="1" dirty="0" err="1"/>
              <a:t>Masalah</a:t>
            </a:r>
            <a:r>
              <a:rPr lang="en-US" b="1" dirty="0"/>
              <a:t> 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belum</a:t>
            </a:r>
            <a:r>
              <a:rPr lang="en-US" dirty="0"/>
              <a:t> fully integrated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modul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centralized tracking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Kurangnya</a:t>
            </a:r>
            <a:r>
              <a:rPr lang="en-US" dirty="0"/>
              <a:t> workflow automation</a:t>
            </a:r>
          </a:p>
        </p:txBody>
      </p:sp>
    </p:spTree>
    <p:extLst>
      <p:ext uri="{BB962C8B-B14F-4D97-AF65-F5344CB8AC3E}">
        <p14:creationId xmlns:p14="http://schemas.microsoft.com/office/powerpoint/2010/main" val="1241668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1CBCE-8F43-41F8-A86D-07AE0204B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331419"/>
            <a:ext cx="5562600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b) Business Impact</a:t>
            </a:r>
          </a:p>
          <a:p>
            <a:pPr marL="0" indent="0">
              <a:buNone/>
            </a:pPr>
            <a:endParaRPr lang="en-US" sz="1800" b="1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Delivery delay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terdeteksi</a:t>
            </a:r>
            <a:r>
              <a:rPr lang="en-US" sz="1800" dirty="0"/>
              <a:t> </a:t>
            </a:r>
            <a:r>
              <a:rPr lang="en-US" sz="1800" dirty="0" err="1"/>
              <a:t>dini</a:t>
            </a:r>
            <a:endParaRPr lang="en-US" sz="18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Customer complain </a:t>
            </a:r>
            <a:r>
              <a:rPr lang="en-US" sz="1800" dirty="0" err="1"/>
              <a:t>meningkat</a:t>
            </a:r>
            <a:endParaRPr lang="en-US" sz="18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SLA penalty risk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Reputational damage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AR </a:t>
            </a:r>
            <a:r>
              <a:rPr lang="en-US" sz="1800" dirty="0" err="1"/>
              <a:t>tertunda</a:t>
            </a:r>
            <a:r>
              <a:rPr lang="en-US" sz="1800" dirty="0"/>
              <a:t> </a:t>
            </a:r>
            <a:r>
              <a:rPr lang="en-US" sz="1800" dirty="0" err="1"/>
              <a:t>karena</a:t>
            </a:r>
            <a:r>
              <a:rPr lang="en-US" sz="1800" dirty="0"/>
              <a:t> POD </a:t>
            </a:r>
            <a:r>
              <a:rPr lang="en-US" sz="1800" dirty="0" err="1"/>
              <a:t>lambat</a:t>
            </a:r>
            <a:r>
              <a:rPr lang="en-US" sz="1800" dirty="0"/>
              <a:t> upload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Margin leakage </a:t>
            </a:r>
            <a:r>
              <a:rPr lang="en-US" sz="1800" dirty="0" err="1"/>
              <a:t>karena</a:t>
            </a:r>
            <a:r>
              <a:rPr lang="en-US" sz="1800" dirty="0"/>
              <a:t> </a:t>
            </a:r>
            <a:r>
              <a:rPr lang="en-US" sz="1800" dirty="0" err="1"/>
              <a:t>biaya</a:t>
            </a:r>
            <a:r>
              <a:rPr lang="en-US" sz="1800" dirty="0"/>
              <a:t> overtime &amp; re-delivery</a:t>
            </a:r>
          </a:p>
          <a:p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8545BD-7F4C-44FB-9A25-94FD1D0C8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</p:spPr>
        <p:txBody>
          <a:bodyPr/>
          <a:lstStyle/>
          <a:p>
            <a:r>
              <a:rPr lang="en-US" dirty="0"/>
              <a:t>GAP 1 – </a:t>
            </a:r>
            <a:r>
              <a:rPr lang="en-US" dirty="0" err="1"/>
              <a:t>Tidak</a:t>
            </a:r>
            <a:r>
              <a:rPr lang="en-US" dirty="0"/>
              <a:t> Ada End-to-End Visibility Order </a:t>
            </a:r>
            <a:r>
              <a:rPr lang="en-US" dirty="0" err="1"/>
              <a:t>ke</a:t>
            </a:r>
            <a:r>
              <a:rPr lang="en-US" dirty="0"/>
              <a:t> Delivery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77624-89E1-4A0F-9F8F-062B21A72D49}"/>
              </a:ext>
            </a:extLst>
          </p:cNvPr>
          <p:cNvSpPr txBox="1"/>
          <p:nvPr/>
        </p:nvSpPr>
        <p:spPr>
          <a:xfrm>
            <a:off x="4729162" y="2331419"/>
            <a:ext cx="418623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Estimasi</a:t>
            </a:r>
            <a:r>
              <a:rPr lang="en-US" b="1" dirty="0"/>
              <a:t> </a:t>
            </a:r>
            <a:r>
              <a:rPr lang="en-US" b="1" dirty="0" err="1"/>
              <a:t>Dampak</a:t>
            </a:r>
            <a:r>
              <a:rPr lang="en-US" b="1" dirty="0"/>
              <a:t> </a:t>
            </a:r>
            <a:r>
              <a:rPr lang="en-US" b="1" dirty="0" err="1"/>
              <a:t>Finansial</a:t>
            </a:r>
            <a:r>
              <a:rPr lang="en-US" b="1" dirty="0"/>
              <a:t> (</a:t>
            </a:r>
            <a:r>
              <a:rPr lang="en-US" b="1" dirty="0" err="1"/>
              <a:t>contoh</a:t>
            </a:r>
            <a:r>
              <a:rPr lang="en-US" b="1" dirty="0"/>
              <a:t> </a:t>
            </a:r>
            <a:r>
              <a:rPr lang="en-US" b="1" dirty="0" err="1"/>
              <a:t>asumsi</a:t>
            </a:r>
            <a:r>
              <a:rPr lang="en-US" b="1" dirty="0"/>
              <a:t> </a:t>
            </a:r>
            <a:r>
              <a:rPr lang="en-US" b="1" dirty="0" err="1"/>
              <a:t>bulanan</a:t>
            </a:r>
            <a:r>
              <a:rPr lang="en-US" b="1" dirty="0"/>
              <a:t>) 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5% job delay </a:t>
            </a:r>
            <a:r>
              <a:rPr lang="en-US" dirty="0" err="1"/>
              <a:t>dari</a:t>
            </a:r>
            <a:r>
              <a:rPr lang="en-US" dirty="0"/>
              <a:t> 1.000 job/</a:t>
            </a:r>
            <a:r>
              <a:rPr lang="en-US" dirty="0" err="1"/>
              <a:t>bulan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Rata-rata </a:t>
            </a:r>
            <a:r>
              <a:rPr lang="en-US" dirty="0" err="1"/>
              <a:t>nilai</a:t>
            </a:r>
            <a:r>
              <a:rPr lang="en-US" dirty="0"/>
              <a:t> job Rp 3.000.000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Potensi</a:t>
            </a:r>
            <a:r>
              <a:rPr lang="en-US" dirty="0"/>
              <a:t> penalty 2%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→ </a:t>
            </a:r>
            <a:r>
              <a:rPr lang="en-US" dirty="0" err="1"/>
              <a:t>Potensi</a:t>
            </a:r>
            <a:r>
              <a:rPr lang="en-US" dirty="0"/>
              <a:t> </a:t>
            </a:r>
            <a:r>
              <a:rPr lang="en-US" dirty="0" err="1"/>
              <a:t>kerugian</a:t>
            </a:r>
            <a:r>
              <a:rPr lang="en-US" dirty="0"/>
              <a:t> ± Rp 300.000.000 per </a:t>
            </a:r>
            <a:r>
              <a:rPr lang="en-US" dirty="0" err="1"/>
              <a:t>bulan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29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262CA-3716-450C-A8DD-01D0EC969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206" y="2222562"/>
            <a:ext cx="3531280" cy="290460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c) Proposed Solution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b="1" dirty="0"/>
          </a:p>
          <a:p>
            <a:pPr>
              <a:lnSpc>
                <a:spcPct val="100000"/>
              </a:lnSpc>
            </a:pPr>
            <a:r>
              <a:rPr lang="en-US" sz="1800" b="1" dirty="0"/>
              <a:t>30 Hari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Integrasi </a:t>
            </a:r>
            <a:r>
              <a:rPr lang="en-US" sz="1800" dirty="0" err="1"/>
              <a:t>otomatis</a:t>
            </a:r>
            <a:r>
              <a:rPr lang="en-US" sz="1800" dirty="0"/>
              <a:t> Sales Order → Job Order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Status delivery mandatory real-time update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Dashboard SLA Monitoring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51EB83F-E309-4079-A5F7-A331F69FA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</p:spPr>
        <p:txBody>
          <a:bodyPr/>
          <a:lstStyle/>
          <a:p>
            <a:r>
              <a:rPr lang="en-US" dirty="0"/>
              <a:t>GAP 1 – </a:t>
            </a:r>
            <a:r>
              <a:rPr lang="en-US" dirty="0" err="1"/>
              <a:t>Tidak</a:t>
            </a:r>
            <a:r>
              <a:rPr lang="en-US" dirty="0"/>
              <a:t> Ada End-to-End Visibility Order </a:t>
            </a:r>
            <a:r>
              <a:rPr lang="en-US" dirty="0" err="1"/>
              <a:t>ke</a:t>
            </a:r>
            <a:r>
              <a:rPr lang="en-US" dirty="0"/>
              <a:t> Delivery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A6C6FA-CCBD-4DA9-B039-8200B0509B81}"/>
              </a:ext>
            </a:extLst>
          </p:cNvPr>
          <p:cNvSpPr txBox="1"/>
          <p:nvPr/>
        </p:nvSpPr>
        <p:spPr>
          <a:xfrm>
            <a:off x="4182837" y="2936202"/>
            <a:ext cx="45774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60 Hari</a:t>
            </a:r>
          </a:p>
          <a:p>
            <a:endParaRPr lang="en-US" sz="1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Auto alert delay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Mobile GPS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POD upload mandatory </a:t>
            </a:r>
            <a:r>
              <a:rPr lang="en-US" sz="1800" dirty="0" err="1"/>
              <a:t>sebelum</a:t>
            </a:r>
            <a:r>
              <a:rPr lang="en-US" sz="1800" dirty="0"/>
              <a:t> job close</a:t>
            </a:r>
          </a:p>
          <a:p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7243A7-3098-4F76-B2D8-52EAF94302A9}"/>
              </a:ext>
            </a:extLst>
          </p:cNvPr>
          <p:cNvSpPr txBox="1"/>
          <p:nvPr/>
        </p:nvSpPr>
        <p:spPr>
          <a:xfrm>
            <a:off x="4182837" y="4690528"/>
            <a:ext cx="4577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90 Hari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Implement Route Optimization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Implement Predictive Delay Monitoring</a:t>
            </a:r>
          </a:p>
        </p:txBody>
      </p:sp>
    </p:spTree>
    <p:extLst>
      <p:ext uri="{BB962C8B-B14F-4D97-AF65-F5344CB8AC3E}">
        <p14:creationId xmlns:p14="http://schemas.microsoft.com/office/powerpoint/2010/main" val="243117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75331E6-1275-4856-A58B-EB600D68C9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7955804"/>
              </p:ext>
            </p:extLst>
          </p:nvPr>
        </p:nvGraphicFramePr>
        <p:xfrm>
          <a:off x="321809" y="1918154"/>
          <a:ext cx="8158162" cy="378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9081">
                  <a:extLst>
                    <a:ext uri="{9D8B030D-6E8A-4147-A177-3AD203B41FA5}">
                      <a16:colId xmlns:a16="http://schemas.microsoft.com/office/drawing/2014/main" val="1141707340"/>
                    </a:ext>
                  </a:extLst>
                </a:gridCol>
                <a:gridCol w="4079081">
                  <a:extLst>
                    <a:ext uri="{9D8B030D-6E8A-4147-A177-3AD203B41FA5}">
                      <a16:colId xmlns:a16="http://schemas.microsoft.com/office/drawing/2014/main" val="1574646437"/>
                    </a:ext>
                  </a:extLst>
                </a:gridCol>
              </a:tblGrid>
              <a:tr h="75719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Estimasi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444168"/>
                  </a:ext>
                </a:extLst>
              </a:tr>
              <a:tr h="757192">
                <a:tc>
                  <a:txBody>
                    <a:bodyPr/>
                    <a:lstStyle/>
                    <a:p>
                      <a:r>
                        <a:rPr lang="en-US"/>
                        <a:t>Development Integration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 120.000.000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289204"/>
                  </a:ext>
                </a:extLst>
              </a:tr>
              <a:tr h="757192">
                <a:tc>
                  <a:txBody>
                    <a:bodyPr/>
                    <a:lstStyle/>
                    <a:p>
                      <a:r>
                        <a:rPr lang="en-US"/>
                        <a:t>Mobile Enhancement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Rp 80.000.000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7648336"/>
                  </a:ext>
                </a:extLst>
              </a:tr>
              <a:tr h="757192">
                <a:tc>
                  <a:txBody>
                    <a:bodyPr/>
                    <a:lstStyle/>
                    <a:p>
                      <a:r>
                        <a:rPr lang="en-US"/>
                        <a:t>Dashboard &amp; Alert Engine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 50.000.000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624821"/>
                  </a:ext>
                </a:extLst>
              </a:tr>
              <a:tr h="757192">
                <a:tc>
                  <a:txBody>
                    <a:bodyPr/>
                    <a:lstStyle/>
                    <a:p>
                      <a:r>
                        <a:rPr lang="en-US"/>
                        <a:t>Total Estimasi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± Rp 250.000.000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17785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CA07215-2505-434C-AAB4-826148166E94}"/>
              </a:ext>
            </a:extLst>
          </p:cNvPr>
          <p:cNvSpPr txBox="1"/>
          <p:nvPr/>
        </p:nvSpPr>
        <p:spPr>
          <a:xfrm>
            <a:off x="-5442" y="5797034"/>
            <a:ext cx="4577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ROI Estimate:</a:t>
            </a:r>
            <a:r>
              <a:rPr lang="en-US" dirty="0"/>
              <a:t> &lt; 6 </a:t>
            </a:r>
            <a:r>
              <a:rPr lang="en-US" dirty="0" err="1"/>
              <a:t>bulan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90F422-3D86-4AEB-9445-6DEDD8D1690A}"/>
              </a:ext>
            </a:extLst>
          </p:cNvPr>
          <p:cNvSpPr txBox="1"/>
          <p:nvPr/>
        </p:nvSpPr>
        <p:spPr>
          <a:xfrm>
            <a:off x="1420586" y="1317696"/>
            <a:ext cx="3477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Estimasi</a:t>
            </a:r>
            <a:r>
              <a:rPr lang="en-US" sz="2800" b="1" dirty="0"/>
              <a:t> Cost</a:t>
            </a:r>
          </a:p>
        </p:txBody>
      </p:sp>
    </p:spTree>
    <p:extLst>
      <p:ext uri="{BB962C8B-B14F-4D97-AF65-F5344CB8AC3E}">
        <p14:creationId xmlns:p14="http://schemas.microsoft.com/office/powerpoint/2010/main" val="3592438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427CA-8924-4E31-8254-A869E722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GAP 2 – Margin Tidak Terkontrol per Job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0A250-BA24-478A-9440-B652D54A7CED}"/>
              </a:ext>
            </a:extLst>
          </p:cNvPr>
          <p:cNvSpPr txBox="1"/>
          <p:nvPr/>
        </p:nvSpPr>
        <p:spPr>
          <a:xfrm>
            <a:off x="1352550" y="1946507"/>
            <a:ext cx="4577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Modul </a:t>
            </a:r>
            <a:r>
              <a:rPr lang="en-US" b="1" dirty="0" err="1"/>
              <a:t>Terdampak</a:t>
            </a:r>
            <a:r>
              <a:rPr lang="en-US" b="1" dirty="0"/>
              <a:t>:</a:t>
            </a:r>
          </a:p>
          <a:p>
            <a:r>
              <a:rPr lang="en-US" dirty="0"/>
              <a:t>Operation, Finance, Accounting, Asset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D7B482-4107-4536-8A7A-9EB2D1F06E8E}"/>
              </a:ext>
            </a:extLst>
          </p:cNvPr>
          <p:cNvSpPr txBox="1"/>
          <p:nvPr/>
        </p:nvSpPr>
        <p:spPr>
          <a:xfrm>
            <a:off x="-5442" y="2922538"/>
            <a:ext cx="45774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lphaLcParenR"/>
            </a:pPr>
            <a:r>
              <a:rPr lang="en-US" b="1" dirty="0"/>
              <a:t>Root Cause Analysis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mandatory cost estimation </a:t>
            </a:r>
            <a:r>
              <a:rPr lang="en-US" dirty="0" err="1"/>
              <a:t>sebelum</a:t>
            </a:r>
            <a:r>
              <a:rPr lang="en-US" dirty="0"/>
              <a:t> job approval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operasional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tercapture</a:t>
            </a:r>
            <a:r>
              <a:rPr lang="en-US" dirty="0"/>
              <a:t> real-time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Fuel &amp; maintenance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terintegrasi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costing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Revenue recognition </a:t>
            </a:r>
            <a:r>
              <a:rPr lang="en-US" dirty="0" err="1"/>
              <a:t>belum</a:t>
            </a:r>
            <a:r>
              <a:rPr lang="en-US" dirty="0"/>
              <a:t> matching </a:t>
            </a:r>
            <a:r>
              <a:rPr lang="en-US" dirty="0" err="1"/>
              <a:t>dengan</a:t>
            </a:r>
            <a:r>
              <a:rPr lang="en-US" dirty="0"/>
              <a:t> expense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D16636-5CBF-48F2-ABEE-0F78C6DFE969}"/>
              </a:ext>
            </a:extLst>
          </p:cNvPr>
          <p:cNvSpPr txBox="1"/>
          <p:nvPr/>
        </p:nvSpPr>
        <p:spPr>
          <a:xfrm>
            <a:off x="4980214" y="2922538"/>
            <a:ext cx="46046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Akar</a:t>
            </a:r>
            <a:r>
              <a:rPr lang="en-US" b="1" dirty="0"/>
              <a:t> </a:t>
            </a:r>
            <a:r>
              <a:rPr lang="en-US" b="1" dirty="0" err="1"/>
              <a:t>Masalah</a:t>
            </a:r>
            <a:r>
              <a:rPr lang="en-US" b="1" dirty="0"/>
              <a:t> 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Job Profitability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Asset cost allocation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otomatis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Manual journal adjustment</a:t>
            </a:r>
          </a:p>
        </p:txBody>
      </p:sp>
    </p:spTree>
    <p:extLst>
      <p:ext uri="{BB962C8B-B14F-4D97-AF65-F5344CB8AC3E}">
        <p14:creationId xmlns:p14="http://schemas.microsoft.com/office/powerpoint/2010/main" val="3215160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B9713AE-404F-4543-B00D-DC64CFB8E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</p:spPr>
        <p:txBody>
          <a:bodyPr/>
          <a:lstStyle/>
          <a:p>
            <a:r>
              <a:rPr lang="sv-SE" dirty="0"/>
              <a:t>GAP 2 – Margin Tidak Terkontrol per Job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47658-B6D9-4263-8914-C9072561BF0A}"/>
              </a:ext>
            </a:extLst>
          </p:cNvPr>
          <p:cNvSpPr txBox="1"/>
          <p:nvPr/>
        </p:nvSpPr>
        <p:spPr>
          <a:xfrm>
            <a:off x="1443491" y="2097063"/>
            <a:ext cx="33854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b) Business Impact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tahu</a:t>
            </a:r>
            <a:r>
              <a:rPr lang="en-US" dirty="0"/>
              <a:t> job mana yang loss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Cross-subsidy </a:t>
            </a:r>
            <a:r>
              <a:rPr lang="en-US" dirty="0" err="1"/>
              <a:t>antar</a:t>
            </a:r>
            <a:r>
              <a:rPr lang="en-US" dirty="0"/>
              <a:t> customer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Margin bias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laporan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Risiko</a:t>
            </a:r>
            <a:r>
              <a:rPr lang="en-US" dirty="0"/>
              <a:t> negative gross profit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90C84A-CA7A-4D7C-8E27-8C342C96E0A5}"/>
              </a:ext>
            </a:extLst>
          </p:cNvPr>
          <p:cNvSpPr txBox="1"/>
          <p:nvPr/>
        </p:nvSpPr>
        <p:spPr>
          <a:xfrm>
            <a:off x="1443491" y="4142233"/>
            <a:ext cx="45774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Estimasi</a:t>
            </a:r>
            <a:r>
              <a:rPr lang="en-US" b="1" dirty="0"/>
              <a:t> </a:t>
            </a:r>
            <a:r>
              <a:rPr lang="en-US" b="1" dirty="0" err="1"/>
              <a:t>Dampak</a:t>
            </a:r>
            <a:r>
              <a:rPr lang="en-US" b="1" dirty="0"/>
              <a:t> :</a:t>
            </a:r>
          </a:p>
          <a:p>
            <a:endParaRPr lang="en-US" dirty="0"/>
          </a:p>
          <a:p>
            <a:r>
              <a:rPr lang="en-US" dirty="0"/>
              <a:t>Jika 10% job </a:t>
            </a:r>
            <a:r>
              <a:rPr lang="en-US" dirty="0" err="1"/>
              <a:t>mengalami</a:t>
            </a:r>
            <a:r>
              <a:rPr lang="en-US" dirty="0"/>
              <a:t> underpricing Rp 500.000</a:t>
            </a:r>
            <a:br>
              <a:rPr lang="en-US" dirty="0"/>
            </a:br>
            <a:endParaRPr lang="en-US" dirty="0"/>
          </a:p>
          <a:p>
            <a:r>
              <a:rPr lang="en-US" dirty="0"/>
              <a:t>→ 100 job x 500.000 = Rp 50.000.000 / </a:t>
            </a:r>
            <a:r>
              <a:rPr lang="en-US" dirty="0" err="1"/>
              <a:t>bulan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830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CBD816-F813-4442-9149-F0E84FF6B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</p:spPr>
        <p:txBody>
          <a:bodyPr/>
          <a:lstStyle/>
          <a:p>
            <a:r>
              <a:rPr lang="sv-SE" dirty="0"/>
              <a:t>GAP 2 – Margin Tidak Terkontrol per Job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59DAB2-58A4-4D76-AB77-77783B0EB9EE}"/>
              </a:ext>
            </a:extLst>
          </p:cNvPr>
          <p:cNvSpPr txBox="1"/>
          <p:nvPr/>
        </p:nvSpPr>
        <p:spPr>
          <a:xfrm>
            <a:off x="1443491" y="1999234"/>
            <a:ext cx="45774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c) Proposed Solution</a:t>
            </a:r>
          </a:p>
          <a:p>
            <a:r>
              <a:rPr lang="en-US" b="1" dirty="0"/>
              <a:t>30 Hari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Mandatory cost estimation </a:t>
            </a:r>
            <a:r>
              <a:rPr lang="en-US" dirty="0" err="1"/>
              <a:t>sebelum</a:t>
            </a:r>
            <a:r>
              <a:rPr lang="en-US" dirty="0"/>
              <a:t> job release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Template standard costing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AD29C9-C1AB-4AFD-AA74-958C98AE23B1}"/>
              </a:ext>
            </a:extLst>
          </p:cNvPr>
          <p:cNvSpPr txBox="1"/>
          <p:nvPr/>
        </p:nvSpPr>
        <p:spPr>
          <a:xfrm>
            <a:off x="1443491" y="3899039"/>
            <a:ext cx="4577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60 Hari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Auto cost capture (fuel, toll, overtime)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Margin per job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5C244-359F-427B-A29C-135C741AC6C4}"/>
              </a:ext>
            </a:extLst>
          </p:cNvPr>
          <p:cNvSpPr txBox="1"/>
          <p:nvPr/>
        </p:nvSpPr>
        <p:spPr>
          <a:xfrm>
            <a:off x="1443491" y="5130150"/>
            <a:ext cx="45774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90 Hari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Full Job Profitability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Contribution margin analysis per customer</a:t>
            </a:r>
          </a:p>
        </p:txBody>
      </p:sp>
    </p:spTree>
    <p:extLst>
      <p:ext uri="{BB962C8B-B14F-4D97-AF65-F5344CB8AC3E}">
        <p14:creationId xmlns:p14="http://schemas.microsoft.com/office/powerpoint/2010/main" val="2948924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5F97E-184A-4A34-BED5-4A98B3DF2017}"/>
              </a:ext>
            </a:extLst>
          </p:cNvPr>
          <p:cNvSpPr txBox="1"/>
          <p:nvPr/>
        </p:nvSpPr>
        <p:spPr>
          <a:xfrm>
            <a:off x="1420586" y="1317696"/>
            <a:ext cx="3477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Estimasi</a:t>
            </a:r>
            <a:r>
              <a:rPr lang="en-US" sz="2800" b="1" dirty="0"/>
              <a:t> Cost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1867813-AC48-45B5-9252-D7B3A49D0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05683"/>
              </p:ext>
            </p:extLst>
          </p:nvPr>
        </p:nvGraphicFramePr>
        <p:xfrm>
          <a:off x="402771" y="1952171"/>
          <a:ext cx="8338458" cy="3730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9229">
                  <a:extLst>
                    <a:ext uri="{9D8B030D-6E8A-4147-A177-3AD203B41FA5}">
                      <a16:colId xmlns:a16="http://schemas.microsoft.com/office/drawing/2014/main" val="2308702106"/>
                    </a:ext>
                  </a:extLst>
                </a:gridCol>
                <a:gridCol w="4169229">
                  <a:extLst>
                    <a:ext uri="{9D8B030D-6E8A-4147-A177-3AD203B41FA5}">
                      <a16:colId xmlns:a16="http://schemas.microsoft.com/office/drawing/2014/main" val="433403640"/>
                    </a:ext>
                  </a:extLst>
                </a:gridCol>
              </a:tblGrid>
              <a:tr h="74603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tx1"/>
                          </a:solidFill>
                        </a:rPr>
                        <a:t>Estimasi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041130"/>
                  </a:ext>
                </a:extLst>
              </a:tr>
              <a:tr h="746034">
                <a:tc>
                  <a:txBody>
                    <a:bodyPr/>
                    <a:lstStyle/>
                    <a:p>
                      <a:r>
                        <a:rPr lang="en-US"/>
                        <a:t>Costing Engine Development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 150.000.000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013041"/>
                  </a:ext>
                </a:extLst>
              </a:tr>
              <a:tr h="746034">
                <a:tc>
                  <a:txBody>
                    <a:bodyPr/>
                    <a:lstStyle/>
                    <a:p>
                      <a:r>
                        <a:rPr lang="en-US"/>
                        <a:t>Dashboard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Rp 75.000.000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1397"/>
                  </a:ext>
                </a:extLst>
              </a:tr>
              <a:tr h="746034">
                <a:tc>
                  <a:txBody>
                    <a:bodyPr/>
                    <a:lstStyle/>
                    <a:p>
                      <a:r>
                        <a:rPr lang="en-US"/>
                        <a:t>Accounting Automation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 50.000.000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984912"/>
                  </a:ext>
                </a:extLst>
              </a:tr>
              <a:tr h="746034">
                <a:tc>
                  <a:txBody>
                    <a:bodyPr/>
                    <a:lstStyle/>
                    <a:p>
                      <a:r>
                        <a:rPr lang="en-US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± Rp 275.000.000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2604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536FCCA-C2A0-43A3-BABD-9A8C48B11941}"/>
              </a:ext>
            </a:extLst>
          </p:cNvPr>
          <p:cNvSpPr txBox="1"/>
          <p:nvPr/>
        </p:nvSpPr>
        <p:spPr>
          <a:xfrm>
            <a:off x="-5442" y="5720832"/>
            <a:ext cx="4577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ROI Estimate:</a:t>
            </a:r>
            <a:r>
              <a:rPr lang="en-US" dirty="0"/>
              <a:t> 4–5 </a:t>
            </a:r>
            <a:r>
              <a:rPr lang="en-US" dirty="0" err="1"/>
              <a:t>bulan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000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B4F2-61E6-4A4B-B5D6-DC599C3F6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 3 – Billing &amp; AR Delay Impacting Cash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691E0F-FF69-4DE9-8953-6093875138C9}"/>
              </a:ext>
            </a:extLst>
          </p:cNvPr>
          <p:cNvSpPr txBox="1"/>
          <p:nvPr/>
        </p:nvSpPr>
        <p:spPr>
          <a:xfrm>
            <a:off x="1443491" y="1906147"/>
            <a:ext cx="45774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Modul </a:t>
            </a:r>
            <a:r>
              <a:rPr lang="en-US" b="1" dirty="0" err="1"/>
              <a:t>Terdampak</a:t>
            </a:r>
            <a:r>
              <a:rPr lang="en-US" b="1" dirty="0"/>
              <a:t> :</a:t>
            </a:r>
          </a:p>
          <a:p>
            <a:endParaRPr lang="en-US" b="1" dirty="0"/>
          </a:p>
          <a:p>
            <a:r>
              <a:rPr lang="en-US" dirty="0"/>
              <a:t>Sales, Operation, Finance, Accounting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744601-BB5B-40B6-892A-107D3D88F2B9}"/>
              </a:ext>
            </a:extLst>
          </p:cNvPr>
          <p:cNvSpPr txBox="1"/>
          <p:nvPr/>
        </p:nvSpPr>
        <p:spPr>
          <a:xfrm>
            <a:off x="151720" y="2881869"/>
            <a:ext cx="45774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lphaLcParenR"/>
            </a:pPr>
            <a:r>
              <a:rPr lang="en-US" b="1" dirty="0"/>
              <a:t>Root Cause Analysis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Invoice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trigger </a:t>
            </a:r>
            <a:r>
              <a:rPr lang="en-US" dirty="0" err="1"/>
              <a:t>setelah</a:t>
            </a:r>
            <a:r>
              <a:rPr lang="en-US" dirty="0"/>
              <a:t> POD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AR reconciliation manual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auto reminder customer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aging dashboard real-time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8B3C85-C6B3-4E3C-A1F5-9FDFE8B4B3B1}"/>
              </a:ext>
            </a:extLst>
          </p:cNvPr>
          <p:cNvSpPr txBox="1"/>
          <p:nvPr/>
        </p:nvSpPr>
        <p:spPr>
          <a:xfrm>
            <a:off x="4566558" y="2881869"/>
            <a:ext cx="45774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Akar</a:t>
            </a:r>
            <a:r>
              <a:rPr lang="en-US" b="1" dirty="0"/>
              <a:t> </a:t>
            </a:r>
            <a:r>
              <a:rPr lang="en-US" b="1" dirty="0" err="1"/>
              <a:t>Masalah</a:t>
            </a:r>
            <a:r>
              <a:rPr lang="en-US" b="1" dirty="0"/>
              <a:t> 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Workflow </a:t>
            </a:r>
            <a:r>
              <a:rPr lang="en-US" dirty="0" err="1"/>
              <a:t>belum</a:t>
            </a:r>
            <a:r>
              <a:rPr lang="en-US" dirty="0"/>
              <a:t> automated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API bank reconciliation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AR monitoring KPI system-based</a:t>
            </a:r>
          </a:p>
        </p:txBody>
      </p:sp>
    </p:spTree>
    <p:extLst>
      <p:ext uri="{BB962C8B-B14F-4D97-AF65-F5344CB8AC3E}">
        <p14:creationId xmlns:p14="http://schemas.microsoft.com/office/powerpoint/2010/main" val="2239890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3FE6D3-0BEC-42E3-BE7A-466062708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</p:spPr>
        <p:txBody>
          <a:bodyPr/>
          <a:lstStyle/>
          <a:p>
            <a:r>
              <a:rPr lang="en-US" dirty="0"/>
              <a:t>GAP 3 – Billing &amp; AR Delay Impacting Cash 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BDCCC-5B94-49C4-A074-89F682CE6475}"/>
              </a:ext>
            </a:extLst>
          </p:cNvPr>
          <p:cNvSpPr txBox="1"/>
          <p:nvPr/>
        </p:nvSpPr>
        <p:spPr>
          <a:xfrm>
            <a:off x="1443491" y="2075293"/>
            <a:ext cx="45774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b) Business Impact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DSO </a:t>
            </a:r>
            <a:r>
              <a:rPr lang="en-US" dirty="0" err="1"/>
              <a:t>tinggi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Cash flow </a:t>
            </a:r>
            <a:r>
              <a:rPr lang="en-US" dirty="0" err="1"/>
              <a:t>terhambat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Working capital pressure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Ketergantungan</a:t>
            </a:r>
            <a:r>
              <a:rPr lang="en-US" dirty="0"/>
              <a:t> pada financing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68CA36-CF3C-46DD-AD6F-74C26E9BB9F7}"/>
              </a:ext>
            </a:extLst>
          </p:cNvPr>
          <p:cNvSpPr txBox="1"/>
          <p:nvPr/>
        </p:nvSpPr>
        <p:spPr>
          <a:xfrm>
            <a:off x="1443491" y="4051157"/>
            <a:ext cx="45774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Estimasi</a:t>
            </a:r>
            <a:r>
              <a:rPr lang="en-US" b="1" dirty="0"/>
              <a:t> </a:t>
            </a:r>
            <a:r>
              <a:rPr lang="en-US" b="1" dirty="0" err="1"/>
              <a:t>Dampak</a:t>
            </a:r>
            <a:r>
              <a:rPr lang="en-US" b="1" dirty="0"/>
              <a:t> :</a:t>
            </a:r>
          </a:p>
          <a:p>
            <a:endParaRPr lang="en-US" dirty="0"/>
          </a:p>
          <a:p>
            <a:r>
              <a:rPr lang="en-US" dirty="0"/>
              <a:t>Jika DSO </a:t>
            </a:r>
            <a:r>
              <a:rPr lang="en-US" dirty="0" err="1"/>
              <a:t>turun</a:t>
            </a:r>
            <a:r>
              <a:rPr lang="en-US" dirty="0"/>
              <a:t> 10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revenue Rp 3 </a:t>
            </a:r>
            <a:r>
              <a:rPr lang="en-US" dirty="0" err="1"/>
              <a:t>Miliar</a:t>
            </a:r>
            <a:r>
              <a:rPr lang="en-US" dirty="0"/>
              <a:t>/</a:t>
            </a:r>
            <a:r>
              <a:rPr lang="en-US" dirty="0" err="1"/>
              <a:t>bulan</a:t>
            </a:r>
            <a:br>
              <a:rPr lang="en-US" dirty="0"/>
            </a:br>
            <a:endParaRPr lang="en-US" dirty="0"/>
          </a:p>
          <a:p>
            <a:r>
              <a:rPr lang="en-US" dirty="0"/>
              <a:t>→ </a:t>
            </a:r>
            <a:r>
              <a:rPr lang="en-US" dirty="0" err="1"/>
              <a:t>Percepatan</a:t>
            </a:r>
            <a:r>
              <a:rPr lang="en-US" dirty="0"/>
              <a:t> cash ± Rp 1 </a:t>
            </a:r>
            <a:r>
              <a:rPr lang="en-US" dirty="0" err="1"/>
              <a:t>Miliar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533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27651C-813C-4922-896E-33FBB4FD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</p:spPr>
        <p:txBody>
          <a:bodyPr/>
          <a:lstStyle/>
          <a:p>
            <a:r>
              <a:rPr lang="en-US" dirty="0"/>
              <a:t>GAP 3 – Billing &amp; AR Delay Impacting Cash 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6A30F8-45A8-4A49-A5BD-50AEBE8578FF}"/>
              </a:ext>
            </a:extLst>
          </p:cNvPr>
          <p:cNvSpPr txBox="1"/>
          <p:nvPr/>
        </p:nvSpPr>
        <p:spPr>
          <a:xfrm>
            <a:off x="1443491" y="1853755"/>
            <a:ext cx="45774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c) Proposed Solution</a:t>
            </a:r>
          </a:p>
          <a:p>
            <a:r>
              <a:rPr lang="en-US" b="1" dirty="0"/>
              <a:t>30 Hari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Auto invoice trigger </a:t>
            </a:r>
            <a:r>
              <a:rPr lang="en-US" dirty="0" err="1"/>
              <a:t>setelah</a:t>
            </a:r>
            <a:r>
              <a:rPr lang="en-US" dirty="0"/>
              <a:t> POD approved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AR aging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FEDB7-7D05-4B32-920B-311D74FF58D7}"/>
              </a:ext>
            </a:extLst>
          </p:cNvPr>
          <p:cNvSpPr txBox="1"/>
          <p:nvPr/>
        </p:nvSpPr>
        <p:spPr>
          <a:xfrm>
            <a:off x="1443491" y="3434443"/>
            <a:ext cx="4577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60 Hari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Auto reminder email + WA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Collection KPI monitoring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EDC6C7-43CC-43B8-BF33-5151392BA9C4}"/>
              </a:ext>
            </a:extLst>
          </p:cNvPr>
          <p:cNvSpPr txBox="1"/>
          <p:nvPr/>
        </p:nvSpPr>
        <p:spPr>
          <a:xfrm>
            <a:off x="1443491" y="4856007"/>
            <a:ext cx="4577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90 Hari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Full bank API reconciliation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Credit risk scoring customer</a:t>
            </a:r>
          </a:p>
        </p:txBody>
      </p:sp>
    </p:spTree>
    <p:extLst>
      <p:ext uri="{BB962C8B-B14F-4D97-AF65-F5344CB8AC3E}">
        <p14:creationId xmlns:p14="http://schemas.microsoft.com/office/powerpoint/2010/main" val="454785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7BB88B-B759-44B8-8C86-CC2C28348F5D}"/>
              </a:ext>
            </a:extLst>
          </p:cNvPr>
          <p:cNvSpPr txBox="1"/>
          <p:nvPr/>
        </p:nvSpPr>
        <p:spPr>
          <a:xfrm>
            <a:off x="1420586" y="1317696"/>
            <a:ext cx="3477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Estimasi</a:t>
            </a:r>
            <a:r>
              <a:rPr lang="en-US" sz="2800" b="1" dirty="0"/>
              <a:t> Cost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95C1FEF-FC47-4DEE-AF1C-84E3900E3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734223"/>
              </p:ext>
            </p:extLst>
          </p:nvPr>
        </p:nvGraphicFramePr>
        <p:xfrm>
          <a:off x="111578" y="2006599"/>
          <a:ext cx="8738508" cy="3010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9254">
                  <a:extLst>
                    <a:ext uri="{9D8B030D-6E8A-4147-A177-3AD203B41FA5}">
                      <a16:colId xmlns:a16="http://schemas.microsoft.com/office/drawing/2014/main" val="819367002"/>
                    </a:ext>
                  </a:extLst>
                </a:gridCol>
                <a:gridCol w="4369254">
                  <a:extLst>
                    <a:ext uri="{9D8B030D-6E8A-4147-A177-3AD203B41FA5}">
                      <a16:colId xmlns:a16="http://schemas.microsoft.com/office/drawing/2014/main" val="2982708405"/>
                    </a:ext>
                  </a:extLst>
                </a:gridCol>
              </a:tblGrid>
              <a:tr h="60209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Estimasi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650436"/>
                  </a:ext>
                </a:extLst>
              </a:tr>
              <a:tr h="602097">
                <a:tc>
                  <a:txBody>
                    <a:bodyPr/>
                    <a:lstStyle/>
                    <a:p>
                      <a:r>
                        <a:rPr lang="en-US"/>
                        <a:t>Billing Automation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 100.000.000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891359"/>
                  </a:ext>
                </a:extLst>
              </a:tr>
              <a:tr h="602097">
                <a:tc>
                  <a:txBody>
                    <a:bodyPr/>
                    <a:lstStyle/>
                    <a:p>
                      <a:r>
                        <a:rPr lang="en-US"/>
                        <a:t>AR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Rp 50.000.000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714958"/>
                  </a:ext>
                </a:extLst>
              </a:tr>
              <a:tr h="602097">
                <a:tc>
                  <a:txBody>
                    <a:bodyPr/>
                    <a:lstStyle/>
                    <a:p>
                      <a:r>
                        <a:rPr lang="en-US"/>
                        <a:t>Bank API Integration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 125.000.000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488451"/>
                  </a:ext>
                </a:extLst>
              </a:tr>
              <a:tr h="602097">
                <a:tc>
                  <a:txBody>
                    <a:bodyPr/>
                    <a:lstStyle/>
                    <a:p>
                      <a:r>
                        <a:rPr lang="en-US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± Rp 275.000.000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8275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B70C6D7-DDAD-4A8F-A0EA-8B2C61588334}"/>
              </a:ext>
            </a:extLst>
          </p:cNvPr>
          <p:cNvSpPr txBox="1"/>
          <p:nvPr/>
        </p:nvSpPr>
        <p:spPr>
          <a:xfrm>
            <a:off x="-5442" y="5775262"/>
            <a:ext cx="4577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ROI Estimate:</a:t>
            </a:r>
            <a:r>
              <a:rPr lang="en-US" dirty="0"/>
              <a:t> &lt; 3 </a:t>
            </a:r>
            <a:r>
              <a:rPr lang="en-US" dirty="0" err="1"/>
              <a:t>bulan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38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BFA5-37BC-4D7D-B45A-95B293032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434" y="1185521"/>
            <a:ext cx="6571343" cy="587134"/>
          </a:xfrm>
        </p:spPr>
        <p:txBody>
          <a:bodyPr/>
          <a:lstStyle/>
          <a:p>
            <a:r>
              <a:rPr lang="en-US" dirty="0"/>
              <a:t>SUMMARY FINANCIAL IMPACT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5B08538-0962-4CA9-9522-D0BB37585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043509"/>
              </p:ext>
            </p:extLst>
          </p:nvPr>
        </p:nvGraphicFramePr>
        <p:xfrm>
          <a:off x="217714" y="2039257"/>
          <a:ext cx="8763000" cy="3468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1900538305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61880827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144606917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654990469"/>
                    </a:ext>
                  </a:extLst>
                </a:gridCol>
              </a:tblGrid>
              <a:tr h="86722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Gap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Potensi Kerugian Bulanan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Estimasi Cost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ROI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205142"/>
                  </a:ext>
                </a:extLst>
              </a:tr>
              <a:tr h="867229">
                <a:tc>
                  <a:txBody>
                    <a:bodyPr/>
                    <a:lstStyle/>
                    <a:p>
                      <a:r>
                        <a:rPr lang="en-US"/>
                        <a:t>Delivery Visibility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Rp 300 juta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Rp 250 juta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&lt;6 </a:t>
                      </a:r>
                      <a:r>
                        <a:rPr lang="en-US" dirty="0" err="1"/>
                        <a:t>bulan</a:t>
                      </a:r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426368"/>
                  </a:ext>
                </a:extLst>
              </a:tr>
              <a:tr h="867229">
                <a:tc>
                  <a:txBody>
                    <a:bodyPr/>
                    <a:lstStyle/>
                    <a:p>
                      <a:r>
                        <a:rPr lang="en-US"/>
                        <a:t>Margin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Rp 50 juta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Rp 275 juta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4–5 bulan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474030"/>
                  </a:ext>
                </a:extLst>
              </a:tr>
              <a:tr h="867229">
                <a:tc>
                  <a:txBody>
                    <a:bodyPr/>
                    <a:lstStyle/>
                    <a:p>
                      <a:r>
                        <a:rPr lang="en-US"/>
                        <a:t>Billing Delay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Cash delay Rp 1 M+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Rp 275 juta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&lt;3 </a:t>
                      </a:r>
                      <a:r>
                        <a:rPr lang="en-US" dirty="0" err="1"/>
                        <a:t>bulan</a:t>
                      </a:r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338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033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185521"/>
            <a:ext cx="6571343" cy="587134"/>
          </a:xfrm>
        </p:spPr>
        <p:txBody>
          <a:bodyPr/>
          <a:lstStyle/>
          <a:p>
            <a:r>
              <a:rPr dirty="0"/>
              <a:t>Strategic 30-60-90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30: Stabilization</a:t>
            </a:r>
          </a:p>
          <a:p>
            <a:r>
              <a:t>60: Optimization</a:t>
            </a:r>
          </a:p>
          <a:p>
            <a:r>
              <a:t>90: Automation &amp; Expansion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1975A-E7AA-4863-9684-8F360D515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30-60-90 Day Strategic Roadmap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47A3E-93AF-466B-A01B-75C095DCC340}"/>
              </a:ext>
            </a:extLst>
          </p:cNvPr>
          <p:cNvSpPr txBox="1"/>
          <p:nvPr/>
        </p:nvSpPr>
        <p:spPr>
          <a:xfrm>
            <a:off x="304801" y="2118837"/>
            <a:ext cx="33854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Day 1–30 (Stabilization)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Integration fix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Mandatory costing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Auto invoice trigger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Dashboard basic live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FC2086-A2C5-4D37-AE35-57AA45B41403}"/>
              </a:ext>
            </a:extLst>
          </p:cNvPr>
          <p:cNvSpPr txBox="1"/>
          <p:nvPr/>
        </p:nvSpPr>
        <p:spPr>
          <a:xfrm>
            <a:off x="4909457" y="2118837"/>
            <a:ext cx="34428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Day 31–60 (Optimization)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Margin visibility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SLA alert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AR monitoring KPI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Cost capture automation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978E12-CDC8-4C3B-B77A-FD79E943C874}"/>
              </a:ext>
            </a:extLst>
          </p:cNvPr>
          <p:cNvSpPr txBox="1"/>
          <p:nvPr/>
        </p:nvSpPr>
        <p:spPr>
          <a:xfrm>
            <a:off x="1842408" y="4045607"/>
            <a:ext cx="45774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Day 61–90 (Expansion &amp; Automation)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Route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Predictive maintenance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Bank API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Executive BI Dashboard</a:t>
            </a:r>
          </a:p>
        </p:txBody>
      </p:sp>
    </p:spTree>
    <p:extLst>
      <p:ext uri="{BB962C8B-B14F-4D97-AF65-F5344CB8AC3E}">
        <p14:creationId xmlns:p14="http://schemas.microsoft.com/office/powerpoint/2010/main" val="103189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577" y="1218178"/>
            <a:ext cx="6571343" cy="587134"/>
          </a:xfrm>
        </p:spPr>
        <p:txBody>
          <a:bodyPr/>
          <a:lstStyle/>
          <a:p>
            <a:r>
              <a:rPr dirty="0"/>
              <a:t>Critical Gaps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Delivery Visibility</a:t>
            </a:r>
          </a:p>
          <a:p>
            <a:r>
              <a:t>2. Margin Control</a:t>
            </a:r>
          </a:p>
          <a:p>
            <a:r>
              <a:t>3. Billing &amp; AR Delay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5006" y="1098088"/>
            <a:ext cx="6571343" cy="587134"/>
          </a:xfrm>
        </p:spPr>
        <p:txBody>
          <a:bodyPr/>
          <a:lstStyle/>
          <a:p>
            <a:r>
              <a:rPr dirty="0"/>
              <a:t>Financial Impact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monthly leakage &amp; cash flow delay</a:t>
            </a:r>
          </a:p>
          <a:p>
            <a:r>
              <a:t>ROI positive within first year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</TotalTime>
  <Words>812</Words>
  <Application>Microsoft Office PowerPoint</Application>
  <PresentationFormat>On-screen Show (4:3)</PresentationFormat>
  <Paragraphs>210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Gallery</vt:lpstr>
      <vt:lpstr>ERP SCALE OCEAN</vt:lpstr>
      <vt:lpstr>GAP 1 – Tidak Ada End-to-End Visibility Order ke Delivery</vt:lpstr>
      <vt:lpstr>GAP 1 – Tidak Ada End-to-End Visibility Order ke Delivery</vt:lpstr>
      <vt:lpstr>GAP 1 – Tidak Ada End-to-End Visibility Order ke Delivery</vt:lpstr>
      <vt:lpstr>PowerPoint Presentation</vt:lpstr>
      <vt:lpstr>GAP 2 – Margin Tidak Terkontrol per Job</vt:lpstr>
      <vt:lpstr>GAP 2 – Margin Tidak Terkontrol per Job</vt:lpstr>
      <vt:lpstr>GAP 2 – Margin Tidak Terkontrol per Job</vt:lpstr>
      <vt:lpstr>PowerPoint Presentation</vt:lpstr>
      <vt:lpstr>GAP 3 – Billing &amp; AR Delay Impacting Cash Flow</vt:lpstr>
      <vt:lpstr>GAP 3 – Billing &amp; AR Delay Impacting Cash Flow</vt:lpstr>
      <vt:lpstr>GAP 3 – Billing &amp; AR Delay Impacting Cash Flow</vt:lpstr>
      <vt:lpstr>PowerPoint Presentation</vt:lpstr>
      <vt:lpstr>SUMMARY FINANCIAL IMPACT</vt:lpstr>
      <vt:lpstr>Strategic 30-60-90 Roadmap</vt:lpstr>
      <vt:lpstr>30-60-90 Day Strategic Roadmap</vt:lpstr>
      <vt:lpstr>Critical Gaps Identified</vt:lpstr>
      <vt:lpstr>Financial Impact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SCALE OCEAN</dc:title>
  <dc:subject/>
  <dc:creator/>
  <cp:keywords/>
  <dc:description>generated using python-pptx</dc:description>
  <cp:lastModifiedBy>fasdeli.off030@outlook.com</cp:lastModifiedBy>
  <cp:revision>21</cp:revision>
  <dcterms:created xsi:type="dcterms:W3CDTF">2013-01-27T09:14:16Z</dcterms:created>
  <dcterms:modified xsi:type="dcterms:W3CDTF">2026-02-16T01:32:39Z</dcterms:modified>
  <cp:category/>
</cp:coreProperties>
</file>