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  <p:sldId id="267" r:id="rId9"/>
    <p:sldId id="268" r:id="rId10"/>
    <p:sldId id="269" r:id="rId11"/>
    <p:sldId id="260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1" r:id="rId22"/>
    <p:sldId id="26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05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94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13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998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3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1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73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58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4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60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88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977" y="1892658"/>
            <a:ext cx="5735309" cy="1527244"/>
          </a:xfrm>
        </p:spPr>
        <p:txBody>
          <a:bodyPr>
            <a:normAutofit fontScale="90000"/>
          </a:bodyPr>
          <a:lstStyle/>
          <a:p>
            <a:r>
              <a:rPr sz="4000" dirty="0"/>
              <a:t>ERP Scale Ocean</a:t>
            </a:r>
            <a:br>
              <a:rPr lang="en-US" sz="4000" dirty="0"/>
            </a:br>
            <a:r>
              <a:rPr sz="4000" dirty="0"/>
              <a:t>30</a:t>
            </a:r>
            <a:r>
              <a:rPr lang="en-US" sz="4000" dirty="0"/>
              <a:t>-</a:t>
            </a:r>
            <a:r>
              <a:rPr sz="4000" dirty="0"/>
              <a:t>60-90 Day Operational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240263"/>
            <a:ext cx="7912452" cy="977621"/>
          </a:xfrm>
        </p:spPr>
        <p:txBody>
          <a:bodyPr>
            <a:normAutofit/>
          </a:bodyPr>
          <a:lstStyle/>
          <a:p>
            <a:r>
              <a:rPr dirty="0"/>
              <a:t>IT System Solution | </a:t>
            </a:r>
          </a:p>
          <a:p>
            <a:r>
              <a:rPr dirty="0"/>
              <a:t>Modules</a:t>
            </a:r>
            <a:r>
              <a:rPr lang="en-US" dirty="0"/>
              <a:t> </a:t>
            </a:r>
            <a:r>
              <a:rPr dirty="0"/>
              <a:t>: Sales, Operation, Finance, Accounting, Asset,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806" y="1153374"/>
            <a:ext cx="4696052" cy="697709"/>
          </a:xfrm>
        </p:spPr>
        <p:txBody>
          <a:bodyPr/>
          <a:lstStyle/>
          <a:p>
            <a:r>
              <a:rPr dirty="0"/>
              <a:t>Executive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000" dirty="0"/>
              <a:t>Stabilize and Optimize ERP Scale Ocean Across All Core Modules</a:t>
            </a:r>
          </a:p>
          <a:p>
            <a:pPr lvl="1"/>
            <a:r>
              <a:rPr lang="en-US" sz="2000" dirty="0"/>
              <a:t>Improve Cross - Module Integration &amp; Data Accuracy</a:t>
            </a:r>
            <a:endParaRPr sz="2000" dirty="0"/>
          </a:p>
          <a:p>
            <a:pPr lvl="1"/>
            <a:r>
              <a:rPr sz="2000" dirty="0"/>
              <a:t>Reduce Manual Process Dependency</a:t>
            </a:r>
          </a:p>
          <a:p>
            <a:pPr lvl="1"/>
            <a:r>
              <a:rPr sz="2000" dirty="0"/>
              <a:t>Strengthen Governance &amp; KPI Monitoring for 2026 Scaling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0320" y="825269"/>
            <a:ext cx="6571343" cy="1049235"/>
          </a:xfrm>
        </p:spPr>
        <p:txBody>
          <a:bodyPr/>
          <a:lstStyle/>
          <a:p>
            <a:r>
              <a:rPr dirty="0"/>
              <a:t>Day 0</a:t>
            </a:r>
            <a:r>
              <a:rPr lang="en-US" dirty="0"/>
              <a:t> </a:t>
            </a:r>
            <a:r>
              <a:rPr dirty="0"/>
              <a:t>–</a:t>
            </a:r>
            <a:r>
              <a:rPr lang="en-US" dirty="0"/>
              <a:t> </a:t>
            </a:r>
            <a:r>
              <a:rPr dirty="0"/>
              <a:t>30</a:t>
            </a:r>
            <a:r>
              <a:rPr lang="en-US" dirty="0"/>
              <a:t> </a:t>
            </a:r>
            <a:r>
              <a:rPr dirty="0"/>
              <a:t>: </a:t>
            </a:r>
            <a:br>
              <a:rPr lang="en-US" dirty="0"/>
            </a:br>
            <a:r>
              <a:rPr dirty="0"/>
              <a:t>Stabilization &amp;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135476"/>
            <a:ext cx="6571343" cy="3450613"/>
          </a:xfrm>
        </p:spPr>
        <p:txBody>
          <a:bodyPr>
            <a:normAutofit/>
          </a:bodyPr>
          <a:lstStyle/>
          <a:p>
            <a:pPr lvl="1" algn="just"/>
            <a:r>
              <a:rPr lang="en-US" sz="2200" dirty="0"/>
              <a:t>Sales : Standardize quotation &amp; pricing control</a:t>
            </a:r>
          </a:p>
          <a:p>
            <a:pPr lvl="1" algn="just"/>
            <a:r>
              <a:rPr lang="en-US" sz="2000" dirty="0"/>
              <a:t>Operation : Job Order workflow &amp; SLA baseline</a:t>
            </a:r>
            <a:endParaRPr sz="2000" dirty="0"/>
          </a:p>
          <a:p>
            <a:pPr lvl="1" algn="just"/>
            <a:r>
              <a:rPr sz="2000" dirty="0"/>
              <a:t>Finance &amp; Accounting</a:t>
            </a:r>
            <a:r>
              <a:rPr lang="en-US" sz="2000" dirty="0"/>
              <a:t> </a:t>
            </a:r>
            <a:r>
              <a:rPr sz="2000" dirty="0"/>
              <a:t>: Billing trigger audit &amp; AR validation</a:t>
            </a:r>
          </a:p>
          <a:p>
            <a:pPr lvl="1" algn="just"/>
            <a:r>
              <a:rPr sz="2000" dirty="0"/>
              <a:t>Asset</a:t>
            </a:r>
            <a:r>
              <a:rPr lang="en-US" sz="2000" dirty="0"/>
              <a:t> </a:t>
            </a:r>
            <a:r>
              <a:rPr sz="2000" dirty="0"/>
              <a:t>: </a:t>
            </a:r>
            <a:r>
              <a:rPr lang="en-US" sz="2000" dirty="0"/>
              <a:t> </a:t>
            </a:r>
            <a:r>
              <a:rPr sz="2000" dirty="0"/>
              <a:t>Asset master validation &amp; maintenance schedule setup</a:t>
            </a:r>
          </a:p>
          <a:p>
            <a:pPr lvl="1" algn="just"/>
            <a:r>
              <a:rPr sz="2000" dirty="0"/>
              <a:t>Delivery</a:t>
            </a:r>
            <a:r>
              <a:rPr lang="en-US" sz="2000" dirty="0"/>
              <a:t> </a:t>
            </a:r>
            <a:r>
              <a:rPr sz="2000" dirty="0"/>
              <a:t>: Status </a:t>
            </a:r>
            <a:r>
              <a:rPr sz="2000" dirty="0" err="1"/>
              <a:t>standarization</a:t>
            </a:r>
            <a:r>
              <a:rPr sz="2000" dirty="0"/>
              <a:t> &amp; POD compliance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DA02F-9657-4802-9998-D2DB16A81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Focus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mapping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Gap identification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alignment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C4F78C-DFC6-4FE2-BC7B-BED631E2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320" y="738183"/>
            <a:ext cx="6230937" cy="1049235"/>
          </a:xfrm>
        </p:spPr>
        <p:txBody>
          <a:bodyPr/>
          <a:lstStyle/>
          <a:p>
            <a:r>
              <a:rPr dirty="0"/>
              <a:t>Day 0</a:t>
            </a:r>
            <a:r>
              <a:rPr lang="en-US" dirty="0"/>
              <a:t> </a:t>
            </a:r>
            <a:r>
              <a:rPr dirty="0"/>
              <a:t>–</a:t>
            </a:r>
            <a:r>
              <a:rPr lang="en-US" dirty="0"/>
              <a:t> </a:t>
            </a:r>
            <a:r>
              <a:rPr dirty="0"/>
              <a:t>30</a:t>
            </a:r>
            <a:r>
              <a:rPr lang="en-US" dirty="0"/>
              <a:t> </a:t>
            </a:r>
            <a:r>
              <a:rPr dirty="0"/>
              <a:t>: </a:t>
            </a:r>
            <a:br>
              <a:rPr lang="en-US" dirty="0"/>
            </a:br>
            <a:r>
              <a:rPr dirty="0"/>
              <a:t>Stabilization &amp; Alignment</a:t>
            </a:r>
          </a:p>
        </p:txBody>
      </p:sp>
    </p:spTree>
    <p:extLst>
      <p:ext uri="{BB962C8B-B14F-4D97-AF65-F5344CB8AC3E}">
        <p14:creationId xmlns:p14="http://schemas.microsoft.com/office/powerpoint/2010/main" val="3235748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5005" y="912171"/>
            <a:ext cx="6571343" cy="958966"/>
          </a:xfrm>
        </p:spPr>
        <p:txBody>
          <a:bodyPr>
            <a:normAutofit fontScale="90000"/>
          </a:bodyPr>
          <a:lstStyle/>
          <a:p>
            <a:r>
              <a:rPr dirty="0"/>
              <a:t>Day 31–</a:t>
            </a:r>
            <a:r>
              <a:rPr lang="en-US" dirty="0"/>
              <a:t> </a:t>
            </a:r>
            <a:r>
              <a:rPr dirty="0"/>
              <a:t>60</a:t>
            </a:r>
            <a:r>
              <a:rPr lang="en-US" dirty="0"/>
              <a:t> </a:t>
            </a:r>
            <a:r>
              <a:rPr dirty="0"/>
              <a:t>: </a:t>
            </a:r>
            <a:br>
              <a:rPr lang="en-US" dirty="0"/>
            </a:br>
            <a:r>
              <a:rPr dirty="0"/>
              <a:t>Optimization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US" sz="2000" dirty="0"/>
              <a:t>Sales : Pipeline dashboard &amp; revenue forecast visibility</a:t>
            </a:r>
            <a:endParaRPr lang="it-IT" sz="2000" dirty="0"/>
          </a:p>
          <a:p>
            <a:pPr lvl="1" algn="just"/>
            <a:r>
              <a:rPr lang="it-IT" sz="2000" dirty="0"/>
              <a:t>Operation : SLA monitoring &amp; auto escalation</a:t>
            </a:r>
          </a:p>
          <a:p>
            <a:pPr lvl="1" algn="just"/>
            <a:r>
              <a:rPr sz="2000" dirty="0"/>
              <a:t>Finance</a:t>
            </a:r>
            <a:r>
              <a:rPr lang="en-US" sz="2000" dirty="0"/>
              <a:t> </a:t>
            </a:r>
            <a:r>
              <a:rPr sz="2000" dirty="0"/>
              <a:t>:</a:t>
            </a:r>
            <a:r>
              <a:rPr lang="en-US" sz="2000" dirty="0"/>
              <a:t> </a:t>
            </a:r>
            <a:r>
              <a:rPr sz="2000" dirty="0"/>
              <a:t> Auto billing trigger &amp; profitability per customer</a:t>
            </a:r>
          </a:p>
          <a:p>
            <a:pPr lvl="1" algn="just"/>
            <a:r>
              <a:rPr sz="2000" dirty="0"/>
              <a:t>Asset: Utilization &amp; maintenance cost dashboard</a:t>
            </a:r>
          </a:p>
          <a:p>
            <a:pPr lvl="1" algn="just"/>
            <a:r>
              <a:rPr sz="2000" dirty="0"/>
              <a:t>Delivery</a:t>
            </a:r>
            <a:r>
              <a:rPr lang="en-US" sz="2000" dirty="0"/>
              <a:t> </a:t>
            </a:r>
            <a:r>
              <a:rPr sz="2000" dirty="0"/>
              <a:t>: e-POD implementation &amp; control tower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4F66-AF9D-43C2-B43D-26818EDE4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034" y="1196407"/>
            <a:ext cx="6492195" cy="587134"/>
          </a:xfrm>
        </p:spPr>
        <p:txBody>
          <a:bodyPr/>
          <a:lstStyle/>
          <a:p>
            <a:r>
              <a:rPr lang="en-US" dirty="0"/>
              <a:t>Sales &amp; Marketing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B2D41-FCEC-495F-9369-26C870CA9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3" y="1908752"/>
            <a:ext cx="3509508" cy="3947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Actions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Audit quotation – to - contract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Validate price master &amp; customer master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revenue leakage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pipeline tracking vs actual revenue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A3B1A8-A5B9-4F72-8E2B-5DE1B29892EF}"/>
              </a:ext>
            </a:extLst>
          </p:cNvPr>
          <p:cNvSpPr txBox="1">
            <a:spLocks/>
          </p:cNvSpPr>
          <p:nvPr/>
        </p:nvSpPr>
        <p:spPr>
          <a:xfrm>
            <a:off x="4372769" y="1908752"/>
            <a:ext cx="3825194" cy="29245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Deliverables :</a:t>
            </a:r>
          </a:p>
          <a:p>
            <a:r>
              <a:rPr lang="en-US" dirty="0"/>
              <a:t>Sales process flow finalized</a:t>
            </a:r>
          </a:p>
          <a:p>
            <a:r>
              <a:rPr lang="en-US" dirty="0"/>
              <a:t>Clean customer master data</a:t>
            </a:r>
          </a:p>
          <a:p>
            <a:r>
              <a:rPr lang="en-US" dirty="0"/>
              <a:t>Standardized quotation approval workflow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DE857A-6620-4D6F-A0B5-BEDB195513DB}"/>
              </a:ext>
            </a:extLst>
          </p:cNvPr>
          <p:cNvSpPr txBox="1">
            <a:spLocks/>
          </p:cNvSpPr>
          <p:nvPr/>
        </p:nvSpPr>
        <p:spPr>
          <a:xfrm>
            <a:off x="4372769" y="4199340"/>
            <a:ext cx="3825194" cy="18857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KPI Target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100% quotation via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manual pricing outside approval matrix</a:t>
            </a:r>
          </a:p>
        </p:txBody>
      </p:sp>
    </p:spTree>
    <p:extLst>
      <p:ext uri="{BB962C8B-B14F-4D97-AF65-F5344CB8AC3E}">
        <p14:creationId xmlns:p14="http://schemas.microsoft.com/office/powerpoint/2010/main" val="386124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9EDD-989F-4862-83B9-12310049E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345" y="1098087"/>
            <a:ext cx="4195309" cy="587134"/>
          </a:xfrm>
        </p:spPr>
        <p:txBody>
          <a:bodyPr/>
          <a:lstStyle/>
          <a:p>
            <a:r>
              <a:rPr lang="en-US" dirty="0"/>
              <a:t>Operation Module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F74F9F-2B77-4C8A-9242-C506DA77D804}"/>
              </a:ext>
            </a:extLst>
          </p:cNvPr>
          <p:cNvSpPr txBox="1">
            <a:spLocks/>
          </p:cNvSpPr>
          <p:nvPr/>
        </p:nvSpPr>
        <p:spPr>
          <a:xfrm>
            <a:off x="97971" y="1984951"/>
            <a:ext cx="3825194" cy="292450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Key Actions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job order lifecycle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manual handover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SLA tracking baseline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Validate route &amp; delivery execution mapping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461E7A-D211-4247-842F-C551AC1C80EC}"/>
              </a:ext>
            </a:extLst>
          </p:cNvPr>
          <p:cNvSpPr txBox="1">
            <a:spLocks/>
          </p:cNvSpPr>
          <p:nvPr/>
        </p:nvSpPr>
        <p:spPr>
          <a:xfrm>
            <a:off x="4757057" y="4038600"/>
            <a:ext cx="3825194" cy="1926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KPI Target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95% Job Order created in ERP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SLA reporting automated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8B07BA-E7D6-46CC-8CC6-8BEDBABE3793}"/>
              </a:ext>
            </a:extLst>
          </p:cNvPr>
          <p:cNvSpPr txBox="1">
            <a:spLocks/>
          </p:cNvSpPr>
          <p:nvPr/>
        </p:nvSpPr>
        <p:spPr>
          <a:xfrm>
            <a:off x="4757057" y="1984951"/>
            <a:ext cx="3825194" cy="2075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Deliverables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Job Order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SLA baseline report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Exception handling SOP</a:t>
            </a:r>
          </a:p>
        </p:txBody>
      </p:sp>
    </p:spTree>
    <p:extLst>
      <p:ext uri="{BB962C8B-B14F-4D97-AF65-F5344CB8AC3E}">
        <p14:creationId xmlns:p14="http://schemas.microsoft.com/office/powerpoint/2010/main" val="417192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B2DD-FFEC-430D-8905-71899AFC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056" y="1261721"/>
            <a:ext cx="7254195" cy="577966"/>
          </a:xfrm>
        </p:spPr>
        <p:txBody>
          <a:bodyPr/>
          <a:lstStyle/>
          <a:p>
            <a:r>
              <a:rPr lang="en-US" dirty="0"/>
              <a:t>Finance &amp; Accounting Module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5E9777-0E85-47A7-A547-56D50836004B}"/>
              </a:ext>
            </a:extLst>
          </p:cNvPr>
          <p:cNvSpPr txBox="1">
            <a:spLocks/>
          </p:cNvSpPr>
          <p:nvPr/>
        </p:nvSpPr>
        <p:spPr>
          <a:xfrm>
            <a:off x="4659085" y="1948909"/>
            <a:ext cx="3825194" cy="20754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Deliverables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 billing mapping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 aging reconciliation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month-end closing timeline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33082F-3A87-451A-BBD3-EE8B0335F390}"/>
              </a:ext>
            </a:extLst>
          </p:cNvPr>
          <p:cNvSpPr txBox="1">
            <a:spLocks/>
          </p:cNvSpPr>
          <p:nvPr/>
        </p:nvSpPr>
        <p:spPr>
          <a:xfrm>
            <a:off x="365807" y="1988701"/>
            <a:ext cx="3825194" cy="330175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Key Actions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Audit billing trigger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AR aging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Validate COA mapping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revenue recognition alignment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99030F-C464-4106-8F00-D5361EA4E9E8}"/>
              </a:ext>
            </a:extLst>
          </p:cNvPr>
          <p:cNvSpPr txBox="1">
            <a:spLocks/>
          </p:cNvSpPr>
          <p:nvPr/>
        </p:nvSpPr>
        <p:spPr>
          <a:xfrm>
            <a:off x="4757057" y="4358035"/>
            <a:ext cx="3825194" cy="1661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KPI Target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Billing ≤ 10 days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 discrepancy &lt; 1%</a:t>
            </a:r>
          </a:p>
        </p:txBody>
      </p:sp>
    </p:spTree>
    <p:extLst>
      <p:ext uri="{BB962C8B-B14F-4D97-AF65-F5344CB8AC3E}">
        <p14:creationId xmlns:p14="http://schemas.microsoft.com/office/powerpoint/2010/main" val="2294662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DD0F-9443-49C8-B498-785D1052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148" y="1196772"/>
            <a:ext cx="4804909" cy="599737"/>
          </a:xfrm>
        </p:spPr>
        <p:txBody>
          <a:bodyPr/>
          <a:lstStyle/>
          <a:p>
            <a:r>
              <a:rPr lang="en-US" dirty="0"/>
              <a:t>Asset Management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EC7F42-C275-4D5F-BC51-83214DAE5970}"/>
              </a:ext>
            </a:extLst>
          </p:cNvPr>
          <p:cNvSpPr txBox="1">
            <a:spLocks/>
          </p:cNvSpPr>
          <p:nvPr/>
        </p:nvSpPr>
        <p:spPr>
          <a:xfrm>
            <a:off x="4659085" y="1948909"/>
            <a:ext cx="3825194" cy="20754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Deliverables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asset master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Preventive maintenance calendar in ERP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865AC6-95DC-40A8-B976-5EE9A5FA6FC3}"/>
              </a:ext>
            </a:extLst>
          </p:cNvPr>
          <p:cNvSpPr txBox="1">
            <a:spLocks/>
          </p:cNvSpPr>
          <p:nvPr/>
        </p:nvSpPr>
        <p:spPr>
          <a:xfrm>
            <a:off x="326571" y="1948909"/>
            <a:ext cx="3825194" cy="33306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Key Actions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Validate asset register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maintenance schedule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depreciation auto posting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86370E-AAC2-44BA-9676-46C30968BAF5}"/>
              </a:ext>
            </a:extLst>
          </p:cNvPr>
          <p:cNvSpPr txBox="1">
            <a:spLocks/>
          </p:cNvSpPr>
          <p:nvPr/>
        </p:nvSpPr>
        <p:spPr>
          <a:xfrm>
            <a:off x="4729162" y="4176729"/>
            <a:ext cx="3825194" cy="13423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KPI Target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100% asset registered in system</a:t>
            </a:r>
          </a:p>
        </p:txBody>
      </p:sp>
    </p:spTree>
    <p:extLst>
      <p:ext uri="{BB962C8B-B14F-4D97-AF65-F5344CB8AC3E}">
        <p14:creationId xmlns:p14="http://schemas.microsoft.com/office/powerpoint/2010/main" val="70282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9687-2C94-4CEE-9138-5872A2A01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234" y="1120718"/>
            <a:ext cx="3977595" cy="632394"/>
          </a:xfrm>
        </p:spPr>
        <p:txBody>
          <a:bodyPr/>
          <a:lstStyle/>
          <a:p>
            <a:r>
              <a:rPr lang="en-US" dirty="0"/>
              <a:t>Delivery Module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62C09B-5ADB-41F2-9F71-BC9762D06BDD}"/>
              </a:ext>
            </a:extLst>
          </p:cNvPr>
          <p:cNvSpPr txBox="1">
            <a:spLocks/>
          </p:cNvSpPr>
          <p:nvPr/>
        </p:nvSpPr>
        <p:spPr>
          <a:xfrm>
            <a:off x="4572000" y="1981932"/>
            <a:ext cx="3825194" cy="20754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Deliverables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status standardization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Delay reason mandatory capture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E5CB13-DA7E-4DD4-8B03-9EA014C1377A}"/>
              </a:ext>
            </a:extLst>
          </p:cNvPr>
          <p:cNvSpPr txBox="1">
            <a:spLocks/>
          </p:cNvSpPr>
          <p:nvPr/>
        </p:nvSpPr>
        <p:spPr>
          <a:xfrm>
            <a:off x="598713" y="2079537"/>
            <a:ext cx="3825194" cy="36790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Key Actions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Validate delivery status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POD submission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GPS integration readiness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0E64FA-1B13-41B8-B32C-AE0EBC6F9D0D}"/>
              </a:ext>
            </a:extLst>
          </p:cNvPr>
          <p:cNvSpPr txBox="1">
            <a:spLocks/>
          </p:cNvSpPr>
          <p:nvPr/>
        </p:nvSpPr>
        <p:spPr>
          <a:xfrm>
            <a:off x="4572000" y="3978060"/>
            <a:ext cx="3825194" cy="1410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KPI Target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95% delivery updated same-day</a:t>
            </a:r>
          </a:p>
        </p:txBody>
      </p:sp>
    </p:spTree>
    <p:extLst>
      <p:ext uri="{BB962C8B-B14F-4D97-AF65-F5344CB8AC3E}">
        <p14:creationId xmlns:p14="http://schemas.microsoft.com/office/powerpoint/2010/main" val="1349493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411" y="867037"/>
            <a:ext cx="6470423" cy="809364"/>
          </a:xfrm>
        </p:spPr>
        <p:txBody>
          <a:bodyPr>
            <a:normAutofit fontScale="90000"/>
          </a:bodyPr>
          <a:lstStyle/>
          <a:p>
            <a:r>
              <a:rPr dirty="0"/>
              <a:t>Day 6</a:t>
            </a:r>
            <a:r>
              <a:rPr lang="en-US" dirty="0"/>
              <a:t>1 - </a:t>
            </a:r>
            <a:r>
              <a:rPr dirty="0"/>
              <a:t>90</a:t>
            </a:r>
            <a:r>
              <a:rPr lang="en-US" dirty="0"/>
              <a:t> </a:t>
            </a:r>
            <a:r>
              <a:rPr dirty="0"/>
              <a:t>: </a:t>
            </a:r>
            <a:br>
              <a:rPr lang="en-US" dirty="0"/>
            </a:br>
            <a:r>
              <a:rPr dirty="0"/>
              <a:t>Expansion &amp; Scalability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Full Integration TMS – ERP – Finance Automation</a:t>
            </a:r>
          </a:p>
          <a:p>
            <a:pPr lvl="1"/>
            <a:r>
              <a:rPr lang="en-US" sz="2000" dirty="0"/>
              <a:t>Advanced Route Optimization Engine Deployment</a:t>
            </a:r>
            <a:endParaRPr sz="2000" dirty="0"/>
          </a:p>
          <a:p>
            <a:pPr lvl="1"/>
            <a:r>
              <a:rPr sz="2000" dirty="0"/>
              <a:t>Customer Self-Service Portal (Tracking &amp; Invoice Access)</a:t>
            </a:r>
          </a:p>
          <a:p>
            <a:pPr lvl="1"/>
            <a:r>
              <a:rPr sz="2000" dirty="0"/>
              <a:t>Predictive Maintenance Analytics (Asset Module)</a:t>
            </a:r>
          </a:p>
          <a:p>
            <a:pPr lvl="1"/>
            <a:r>
              <a:rPr sz="2000" dirty="0"/>
              <a:t>Executive BI Dashboard for Board Monitoring</a:t>
            </a:r>
          </a:p>
          <a:p>
            <a:pPr lvl="1"/>
            <a:r>
              <a:rPr sz="2000" dirty="0"/>
              <a:t>Prepare Multi-Branch Scalability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D5DD62-342E-4168-838C-8DF7A637BEB1}"/>
              </a:ext>
            </a:extLst>
          </p:cNvPr>
          <p:cNvSpPr txBox="1"/>
          <p:nvPr/>
        </p:nvSpPr>
        <p:spPr>
          <a:xfrm>
            <a:off x="1363436" y="2184149"/>
            <a:ext cx="6169478" cy="25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Focus :</a:t>
            </a:r>
          </a:p>
          <a:p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Automation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Integration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Performance dashboard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Governance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F7E473-AA90-45AE-9A08-A84302D67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411" y="906760"/>
            <a:ext cx="6470423" cy="809364"/>
          </a:xfrm>
        </p:spPr>
        <p:txBody>
          <a:bodyPr>
            <a:normAutofit fontScale="90000"/>
          </a:bodyPr>
          <a:lstStyle/>
          <a:p>
            <a:r>
              <a:rPr dirty="0"/>
              <a:t>Day 61</a:t>
            </a:r>
            <a:r>
              <a:rPr lang="en-US" dirty="0"/>
              <a:t> - </a:t>
            </a:r>
            <a:r>
              <a:rPr dirty="0"/>
              <a:t>90</a:t>
            </a:r>
            <a:r>
              <a:rPr lang="en-US" dirty="0"/>
              <a:t> </a:t>
            </a:r>
            <a:r>
              <a:rPr dirty="0"/>
              <a:t>: </a:t>
            </a:r>
            <a:br>
              <a:rPr lang="en-US" dirty="0"/>
            </a:br>
            <a:r>
              <a:rPr dirty="0"/>
              <a:t>Expansion &amp; Scalability Phase</a:t>
            </a:r>
          </a:p>
        </p:txBody>
      </p:sp>
    </p:spTree>
    <p:extLst>
      <p:ext uri="{BB962C8B-B14F-4D97-AF65-F5344CB8AC3E}">
        <p14:creationId xmlns:p14="http://schemas.microsoft.com/office/powerpoint/2010/main" val="537676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72F0-B4E6-4806-AA2D-823F34A8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406" y="1294377"/>
            <a:ext cx="4271508" cy="588851"/>
          </a:xfrm>
        </p:spPr>
        <p:txBody>
          <a:bodyPr/>
          <a:lstStyle/>
          <a:p>
            <a:r>
              <a:rPr lang="en-US" dirty="0"/>
              <a:t>Sales &amp; Marketing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9437B-8CDE-4867-9B74-78EEB919C510}"/>
              </a:ext>
            </a:extLst>
          </p:cNvPr>
          <p:cNvSpPr txBox="1"/>
          <p:nvPr/>
        </p:nvSpPr>
        <p:spPr>
          <a:xfrm>
            <a:off x="1341664" y="2016009"/>
            <a:ext cx="6670221" cy="388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Improvements :</a:t>
            </a:r>
          </a:p>
          <a:p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Pipeline dashboard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Forecast vs actual revenue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Commission auto calculation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Impact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Revenue visibility improved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Leakage minimized</a:t>
            </a:r>
          </a:p>
        </p:txBody>
      </p:sp>
    </p:spTree>
    <p:extLst>
      <p:ext uri="{BB962C8B-B14F-4D97-AF65-F5344CB8AC3E}">
        <p14:creationId xmlns:p14="http://schemas.microsoft.com/office/powerpoint/2010/main" val="30715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DC6BF-6804-4C41-8EAB-86056883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902" y="1289446"/>
            <a:ext cx="2682195" cy="621509"/>
          </a:xfrm>
        </p:spPr>
        <p:txBody>
          <a:bodyPr/>
          <a:lstStyle/>
          <a:p>
            <a:r>
              <a:rPr lang="en-US" dirty="0"/>
              <a:t>Operation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859B5-E4AA-4E52-89A4-E5A0BCB7C7FC}"/>
              </a:ext>
            </a:extLst>
          </p:cNvPr>
          <p:cNvSpPr txBox="1"/>
          <p:nvPr/>
        </p:nvSpPr>
        <p:spPr>
          <a:xfrm>
            <a:off x="1417865" y="2023880"/>
            <a:ext cx="7007678" cy="3423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Improvements :</a:t>
            </a:r>
          </a:p>
          <a:p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SLA monitoring dashboard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Auto escalation for delay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Route performance analytics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Impact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SLA improvement 2 – 4%</a:t>
            </a:r>
          </a:p>
        </p:txBody>
      </p:sp>
    </p:spTree>
    <p:extLst>
      <p:ext uri="{BB962C8B-B14F-4D97-AF65-F5344CB8AC3E}">
        <p14:creationId xmlns:p14="http://schemas.microsoft.com/office/powerpoint/2010/main" val="977169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D78A-405F-4C2C-B9F7-1D590061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978" y="1287732"/>
            <a:ext cx="5229452" cy="545309"/>
          </a:xfrm>
        </p:spPr>
        <p:txBody>
          <a:bodyPr/>
          <a:lstStyle/>
          <a:p>
            <a:r>
              <a:rPr lang="en-US" dirty="0"/>
              <a:t>Finance &amp; Accounting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38F70-853A-4636-A948-EFA8B8FFBA77}"/>
              </a:ext>
            </a:extLst>
          </p:cNvPr>
          <p:cNvSpPr txBox="1"/>
          <p:nvPr/>
        </p:nvSpPr>
        <p:spPr>
          <a:xfrm>
            <a:off x="1428751" y="2146638"/>
            <a:ext cx="6833506" cy="388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Improvements :</a:t>
            </a:r>
          </a:p>
          <a:p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Auto billing trigger from Delivery Completed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AR dashboard real - time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Profitability per customer report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Impact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Billing cycle ≤ 7 days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Cashflow acceleration</a:t>
            </a:r>
          </a:p>
        </p:txBody>
      </p:sp>
    </p:spTree>
    <p:extLst>
      <p:ext uri="{BB962C8B-B14F-4D97-AF65-F5344CB8AC3E}">
        <p14:creationId xmlns:p14="http://schemas.microsoft.com/office/powerpoint/2010/main" val="134893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25CD-E506-487E-9312-4C80D9B5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063" y="1239950"/>
            <a:ext cx="4315052" cy="643280"/>
          </a:xfrm>
        </p:spPr>
        <p:txBody>
          <a:bodyPr/>
          <a:lstStyle/>
          <a:p>
            <a:r>
              <a:rPr lang="en-US" dirty="0"/>
              <a:t>Asset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22B57-08D2-423D-8B6E-8A5626DD53FE}"/>
              </a:ext>
            </a:extLst>
          </p:cNvPr>
          <p:cNvSpPr txBox="1"/>
          <p:nvPr/>
        </p:nvSpPr>
        <p:spPr>
          <a:xfrm>
            <a:off x="1483179" y="2143622"/>
            <a:ext cx="6648450" cy="336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Improvements :</a:t>
            </a:r>
          </a:p>
          <a:p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Asset utilization dashboard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Maintenance cost per unit tracking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Breakdown trend analysis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Impact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Maintenance cost reduced 5 – 8%</a:t>
            </a:r>
          </a:p>
        </p:txBody>
      </p:sp>
    </p:spTree>
    <p:extLst>
      <p:ext uri="{BB962C8B-B14F-4D97-AF65-F5344CB8AC3E}">
        <p14:creationId xmlns:p14="http://schemas.microsoft.com/office/powerpoint/2010/main" val="123846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5214-2253-4EB4-AB05-8E7CE8213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891" y="1371344"/>
            <a:ext cx="2105252" cy="501253"/>
          </a:xfrm>
        </p:spPr>
        <p:txBody>
          <a:bodyPr>
            <a:normAutofit fontScale="90000"/>
          </a:bodyPr>
          <a:lstStyle/>
          <a:p>
            <a:r>
              <a:rPr lang="en-US" dirty="0"/>
              <a:t>Delivery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DFA12-1155-4104-B23F-3332B1AF3002}"/>
              </a:ext>
            </a:extLst>
          </p:cNvPr>
          <p:cNvSpPr txBox="1"/>
          <p:nvPr/>
        </p:nvSpPr>
        <p:spPr>
          <a:xfrm>
            <a:off x="1352551" y="2063026"/>
            <a:ext cx="6691992" cy="388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Improvements :</a:t>
            </a:r>
          </a:p>
          <a:p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e-POD mandatory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Exception alert dashboard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Delivery control tower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Impact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SLA ≥ 96%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Reduced manual coordination</a:t>
            </a:r>
          </a:p>
        </p:txBody>
      </p:sp>
    </p:spTree>
    <p:extLst>
      <p:ext uri="{BB962C8B-B14F-4D97-AF65-F5344CB8AC3E}">
        <p14:creationId xmlns:p14="http://schemas.microsoft.com/office/powerpoint/2010/main" val="92149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F58D-4C9C-4B89-91B9-64973B49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0" y="867036"/>
            <a:ext cx="6571343" cy="1049235"/>
          </a:xfrm>
        </p:spPr>
        <p:txBody>
          <a:bodyPr/>
          <a:lstStyle/>
          <a:p>
            <a:r>
              <a:rPr lang="en-US" dirty="0"/>
              <a:t>GOVERNANCE STRUCTURE </a:t>
            </a:r>
            <a:br>
              <a:rPr lang="en-US" dirty="0"/>
            </a:br>
            <a:r>
              <a:rPr lang="en-US" dirty="0"/>
              <a:t>(First 60 Days)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AEC840E-D125-45EB-90B9-3BD71033A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489" y="2199464"/>
            <a:ext cx="6571343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Weekly Cross Module Review (IT + User)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Monthly KPI Board Report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Issue Log Tracker (RAG status)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PMO checkpoint every 2 weeks</a:t>
            </a:r>
          </a:p>
        </p:txBody>
      </p:sp>
    </p:spTree>
    <p:extLst>
      <p:ext uri="{BB962C8B-B14F-4D97-AF65-F5344CB8AC3E}">
        <p14:creationId xmlns:p14="http://schemas.microsoft.com/office/powerpoint/2010/main" val="1057159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3A9E6-C210-4649-ACBA-81394D503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292" y="1370579"/>
            <a:ext cx="5055280" cy="567080"/>
          </a:xfrm>
        </p:spPr>
        <p:txBody>
          <a:bodyPr/>
          <a:lstStyle/>
          <a:p>
            <a:r>
              <a:rPr lang="en-US" dirty="0"/>
              <a:t>60-DAY SUCCESS METRICS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9CB3342-D100-4D1D-A892-31FC3D30F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888901"/>
              </p:ext>
            </p:extLst>
          </p:nvPr>
        </p:nvGraphicFramePr>
        <p:xfrm>
          <a:off x="293914" y="1937658"/>
          <a:ext cx="8621486" cy="4005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0743">
                  <a:extLst>
                    <a:ext uri="{9D8B030D-6E8A-4147-A177-3AD203B41FA5}">
                      <a16:colId xmlns:a16="http://schemas.microsoft.com/office/drawing/2014/main" val="3088424333"/>
                    </a:ext>
                  </a:extLst>
                </a:gridCol>
                <a:gridCol w="4310743">
                  <a:extLst>
                    <a:ext uri="{9D8B030D-6E8A-4147-A177-3AD203B41FA5}">
                      <a16:colId xmlns:a16="http://schemas.microsoft.com/office/drawing/2014/main" val="367234766"/>
                    </a:ext>
                  </a:extLst>
                </a:gridCol>
              </a:tblGrid>
              <a:tr h="57227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Area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250331"/>
                  </a:ext>
                </a:extLst>
              </a:tr>
              <a:tr h="572277">
                <a:tc>
                  <a:txBody>
                    <a:bodyPr/>
                    <a:lstStyle/>
                    <a:p>
                      <a:r>
                        <a:rPr lang="en-US" sz="1800"/>
                        <a:t>SLA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≥ 96%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305129"/>
                  </a:ext>
                </a:extLst>
              </a:tr>
              <a:tr h="572277">
                <a:tc>
                  <a:txBody>
                    <a:bodyPr/>
                    <a:lstStyle/>
                    <a:p>
                      <a:r>
                        <a:rPr lang="en-US" sz="1800" dirty="0"/>
                        <a:t>Billing 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≤ 7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094406"/>
                  </a:ext>
                </a:extLst>
              </a:tr>
              <a:tr h="572277">
                <a:tc>
                  <a:txBody>
                    <a:bodyPr/>
                    <a:lstStyle/>
                    <a:p>
                      <a:r>
                        <a:rPr lang="en-US" sz="1800"/>
                        <a:t>AR Accuracy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≥ 99%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205996"/>
                  </a:ext>
                </a:extLst>
              </a:tr>
              <a:tr h="572277">
                <a:tc>
                  <a:txBody>
                    <a:bodyPr/>
                    <a:lstStyle/>
                    <a:p>
                      <a:r>
                        <a:rPr lang="en-US" sz="1800"/>
                        <a:t>Fuel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+5%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953489"/>
                  </a:ext>
                </a:extLst>
              </a:tr>
              <a:tr h="572277">
                <a:tc>
                  <a:txBody>
                    <a:bodyPr/>
                    <a:lstStyle/>
                    <a:p>
                      <a:r>
                        <a:rPr lang="en-US" sz="1800"/>
                        <a:t>Asset Utilization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≥ 85%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634354"/>
                  </a:ext>
                </a:extLst>
              </a:tr>
              <a:tr h="572277">
                <a:tc>
                  <a:txBody>
                    <a:bodyPr/>
                    <a:lstStyle/>
                    <a:p>
                      <a:r>
                        <a:rPr lang="en-US" sz="1800"/>
                        <a:t>System Adoption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≥ 95%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854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974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AC81-A01F-4315-A835-020BD469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606" y="814383"/>
            <a:ext cx="5534252" cy="1049235"/>
          </a:xfrm>
        </p:spPr>
        <p:txBody>
          <a:bodyPr/>
          <a:lstStyle/>
          <a:p>
            <a:r>
              <a:rPr lang="en-US" dirty="0"/>
              <a:t>ESTIMATED 60-DAY BUDGET (Optimization Phase)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2EF7776-6666-41E7-AFE1-4F659E7FD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196242"/>
              </p:ext>
            </p:extLst>
          </p:nvPr>
        </p:nvGraphicFramePr>
        <p:xfrm>
          <a:off x="239486" y="2093685"/>
          <a:ext cx="8665028" cy="3817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2514">
                  <a:extLst>
                    <a:ext uri="{9D8B030D-6E8A-4147-A177-3AD203B41FA5}">
                      <a16:colId xmlns:a16="http://schemas.microsoft.com/office/drawing/2014/main" val="1556901893"/>
                    </a:ext>
                  </a:extLst>
                </a:gridCol>
                <a:gridCol w="4332514">
                  <a:extLst>
                    <a:ext uri="{9D8B030D-6E8A-4147-A177-3AD203B41FA5}">
                      <a16:colId xmlns:a16="http://schemas.microsoft.com/office/drawing/2014/main" val="1099276211"/>
                    </a:ext>
                  </a:extLst>
                </a:gridCol>
              </a:tblGrid>
              <a:tr h="6362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Estimation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70926"/>
                  </a:ext>
                </a:extLst>
              </a:tr>
              <a:tr h="636210">
                <a:tc>
                  <a:txBody>
                    <a:bodyPr/>
                    <a:lstStyle/>
                    <a:p>
                      <a:r>
                        <a:rPr lang="en-US" sz="1800"/>
                        <a:t>Minor Dev &amp; Enhancement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Rp 350 </a:t>
                      </a:r>
                      <a:r>
                        <a:rPr lang="en-US" sz="1800" dirty="0" err="1"/>
                        <a:t>juta</a:t>
                      </a:r>
                      <a:endParaRPr lang="en-US" sz="1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83080"/>
                  </a:ext>
                </a:extLst>
              </a:tr>
              <a:tr h="636210">
                <a:tc>
                  <a:txBody>
                    <a:bodyPr/>
                    <a:lstStyle/>
                    <a:p>
                      <a:r>
                        <a:rPr lang="en-US" sz="1800"/>
                        <a:t>Dashboard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Rp 150 </a:t>
                      </a:r>
                      <a:r>
                        <a:rPr lang="en-US" sz="1800" dirty="0" err="1"/>
                        <a:t>juta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2557828"/>
                  </a:ext>
                </a:extLst>
              </a:tr>
              <a:tr h="636210">
                <a:tc>
                  <a:txBody>
                    <a:bodyPr/>
                    <a:lstStyle/>
                    <a:p>
                      <a:r>
                        <a:rPr lang="en-US" sz="1800"/>
                        <a:t>Training &amp; Change Management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Rp 100 </a:t>
                      </a:r>
                      <a:r>
                        <a:rPr lang="en-US" sz="1800" dirty="0" err="1"/>
                        <a:t>juta</a:t>
                      </a:r>
                      <a:endParaRPr lang="en-US" sz="1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62507"/>
                  </a:ext>
                </a:extLst>
              </a:tr>
              <a:tr h="636210">
                <a:tc>
                  <a:txBody>
                    <a:bodyPr/>
                    <a:lstStyle/>
                    <a:p>
                      <a:r>
                        <a:rPr lang="en-US" sz="1800"/>
                        <a:t>Data Cleansing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Rp 75 </a:t>
                      </a:r>
                      <a:r>
                        <a:rPr lang="en-US" sz="1800" dirty="0" err="1"/>
                        <a:t>juta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791400"/>
                  </a:ext>
                </a:extLst>
              </a:tr>
              <a:tr h="636210">
                <a:tc>
                  <a:txBody>
                    <a:bodyPr/>
                    <a:lstStyle/>
                    <a:p>
                      <a:r>
                        <a:rPr lang="en-US" sz="1800" dirty="0"/>
                        <a:t>Total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± Rp 675 </a:t>
                      </a:r>
                      <a:r>
                        <a:rPr lang="en-US" sz="1800" dirty="0" err="1"/>
                        <a:t>juta</a:t>
                      </a:r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963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072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977" y="1218178"/>
            <a:ext cx="6688138" cy="587134"/>
          </a:xfrm>
        </p:spPr>
        <p:txBody>
          <a:bodyPr/>
          <a:lstStyle/>
          <a:p>
            <a:r>
              <a:rPr dirty="0"/>
              <a:t>KPI Target (</a:t>
            </a:r>
            <a:r>
              <a:rPr lang="en-US" dirty="0"/>
              <a:t> </a:t>
            </a:r>
            <a:r>
              <a:rPr dirty="0"/>
              <a:t>Within 90 Days</a:t>
            </a:r>
            <a:r>
              <a:rPr lang="en-US" dirty="0"/>
              <a:t> 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000" dirty="0"/>
              <a:t>SLA ≥ 96%</a:t>
            </a:r>
          </a:p>
          <a:p>
            <a:pPr lvl="1"/>
            <a:r>
              <a:rPr lang="en-US" sz="2000" dirty="0"/>
              <a:t>Billing Cycle ≤ 7 Days</a:t>
            </a:r>
            <a:endParaRPr sz="2000" dirty="0"/>
          </a:p>
          <a:p>
            <a:pPr lvl="1"/>
            <a:r>
              <a:rPr sz="2000" dirty="0"/>
              <a:t>AR Accuracy ≥ 99%</a:t>
            </a:r>
          </a:p>
          <a:p>
            <a:pPr lvl="1"/>
            <a:r>
              <a:rPr sz="2000" dirty="0"/>
              <a:t>Fleet Utilization ≥ 85%</a:t>
            </a:r>
          </a:p>
          <a:p>
            <a:pPr lvl="1"/>
            <a:r>
              <a:rPr sz="2000" dirty="0"/>
              <a:t>Fuel Efficiency Improvement ≥ 8%</a:t>
            </a:r>
          </a:p>
          <a:p>
            <a:pPr lvl="1"/>
            <a:r>
              <a:rPr sz="2000" dirty="0"/>
              <a:t>System Adoption ≥ 95%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8292" y="1098088"/>
            <a:ext cx="5980566" cy="587134"/>
          </a:xfrm>
        </p:spPr>
        <p:txBody>
          <a:bodyPr/>
          <a:lstStyle/>
          <a:p>
            <a:r>
              <a:rPr dirty="0"/>
              <a:t>Investment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Estimated 60-Day Optimization Budget : Rp 675 Juta</a:t>
            </a:r>
          </a:p>
          <a:p>
            <a:pPr lvl="1"/>
            <a:r>
              <a:rPr lang="en-US" sz="2000" dirty="0"/>
              <a:t>90-Day Expansion Investment : ± Rp 1.2 </a:t>
            </a:r>
            <a:r>
              <a:rPr lang="en-US" sz="2000" dirty="0" err="1"/>
              <a:t>Miliar</a:t>
            </a:r>
            <a:endParaRPr sz="2000" dirty="0"/>
          </a:p>
          <a:p>
            <a:pPr lvl="1"/>
            <a:r>
              <a:rPr sz="2000" dirty="0"/>
              <a:t>Total Program Budget</a:t>
            </a:r>
            <a:r>
              <a:rPr lang="en-US" sz="2000" dirty="0"/>
              <a:t> </a:t>
            </a:r>
            <a:r>
              <a:rPr sz="2000" dirty="0"/>
              <a:t>: ± Rp 1.875 </a:t>
            </a:r>
            <a:r>
              <a:rPr sz="2000" dirty="0" err="1"/>
              <a:t>Miliar</a:t>
            </a:r>
            <a:endParaRPr sz="2000" dirty="0"/>
          </a:p>
          <a:p>
            <a:pPr lvl="1"/>
            <a:r>
              <a:rPr sz="2000" dirty="0"/>
              <a:t>Governance</a:t>
            </a:r>
            <a:r>
              <a:rPr lang="en-US" sz="2000" dirty="0"/>
              <a:t> </a:t>
            </a:r>
            <a:r>
              <a:rPr sz="2000" dirty="0"/>
              <a:t>: Bi-Weekly PMO Review &amp; Monthly Board KPI Report</a:t>
            </a:r>
          </a:p>
          <a:p>
            <a:pPr lvl="1"/>
            <a:r>
              <a:rPr sz="2000" dirty="0"/>
              <a:t>Implementation Risk Level</a:t>
            </a:r>
            <a:r>
              <a:rPr lang="en-US" sz="2000" dirty="0"/>
              <a:t> </a:t>
            </a:r>
            <a:r>
              <a:rPr sz="2000" dirty="0"/>
              <a:t>: Medium (Mitigated via Phased Rollout)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641</TotalTime>
  <Words>802</Words>
  <Application>Microsoft Office PowerPoint</Application>
  <PresentationFormat>On-screen Show (4:3)</PresentationFormat>
  <Paragraphs>193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Gill Sans MT</vt:lpstr>
      <vt:lpstr>Gallery</vt:lpstr>
      <vt:lpstr>ERP Scale Ocean 30-60-90 Day Operational Plan</vt:lpstr>
      <vt:lpstr>Executive Objective</vt:lpstr>
      <vt:lpstr>Day 0 – 30 :  Stabilization &amp; Alignment</vt:lpstr>
      <vt:lpstr>Day 0 – 30 :  Stabilization &amp; Alignment</vt:lpstr>
      <vt:lpstr>Day 31– 60 :  Optimization &amp; Automation</vt:lpstr>
      <vt:lpstr>Sales &amp; Marketing Module</vt:lpstr>
      <vt:lpstr>Operation Module</vt:lpstr>
      <vt:lpstr>Finance &amp; Accounting Module</vt:lpstr>
      <vt:lpstr>Asset Management</vt:lpstr>
      <vt:lpstr>Delivery Module</vt:lpstr>
      <vt:lpstr>Day 61 - 90 :  Expansion &amp; Scalability Phase</vt:lpstr>
      <vt:lpstr>Day 61 - 90 :  Expansion &amp; Scalability Phase</vt:lpstr>
      <vt:lpstr>Sales &amp; Marketing</vt:lpstr>
      <vt:lpstr>Operation</vt:lpstr>
      <vt:lpstr>Finance &amp; Accounting</vt:lpstr>
      <vt:lpstr>Asset Management</vt:lpstr>
      <vt:lpstr>Delivery</vt:lpstr>
      <vt:lpstr>GOVERNANCE STRUCTURE  (First 60 Days)</vt:lpstr>
      <vt:lpstr>60-DAY SUCCESS METRICS</vt:lpstr>
      <vt:lpstr>ESTIMATED 60-DAY BUDGET (Optimization Phase)</vt:lpstr>
      <vt:lpstr>KPI Target ( Within 90 Days )</vt:lpstr>
      <vt:lpstr>Investment &amp; Governance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Scale Ocean 30-60-90 Day Operational Plan</dc:title>
  <dc:subject/>
  <dc:creator/>
  <cp:keywords/>
  <dc:description>generated using python-pptx</dc:description>
  <cp:lastModifiedBy>fasdeli.off030@outlook.com</cp:lastModifiedBy>
  <cp:revision>107</cp:revision>
  <dcterms:created xsi:type="dcterms:W3CDTF">2013-01-27T09:14:16Z</dcterms:created>
  <dcterms:modified xsi:type="dcterms:W3CDTF">2026-02-13T09:56:17Z</dcterms:modified>
  <cp:category/>
</cp:coreProperties>
</file>